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5" r:id="rId9"/>
    <p:sldId id="263" r:id="rId10"/>
    <p:sldId id="264" r:id="rId11"/>
  </p:sldIdLst>
  <p:sldSz cx="12192000" cy="6858000"/>
  <p:notesSz cx="6858000" cy="12192000"/>
  <p:embeddedFontLst>
    <p:embeddedFont>
      <p:font typeface="Inter" panose="020B0604020202020204" charset="0"/>
      <p:regular r:id="rId13"/>
    </p:embeddedFont>
    <p:embeddedFont>
      <p:font typeface="Inter Bold" panose="020B0604020202020204" charset="0"/>
      <p:regular r:id="rId1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9" d="100"/>
          <a:sy n="79" d="100"/>
        </p:scale>
        <p:origin x="101"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51365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F6493-F878-5B65-A75E-4954127D7C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F71AB9-8B66-951F-B958-689C0E5598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D32968-C5C0-23BA-083E-A8B7E1A860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87B4F8-E4EE-8BA1-A7FA-6C5DC0654DBC}"/>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5210930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4F4"/>
          </a:solidFill>
          <a:ln/>
        </p:spPr>
        <p:txBody>
          <a:bodyPr/>
          <a:lstStyle/>
          <a:p>
            <a:endParaRPr lang="es-MX"/>
          </a:p>
        </p:txBody>
      </p:sp>
      <p:sp>
        <p:nvSpPr>
          <p:cNvPr id="3" name="Shape 1"/>
          <p:cNvSpPr/>
          <p:nvPr/>
        </p:nvSpPr>
        <p:spPr>
          <a:xfrm>
            <a:off x="0" y="0"/>
            <a:ext cx="12191695" cy="6858000"/>
          </a:xfrm>
          <a:prstGeom prst="rect">
            <a:avLst/>
          </a:prstGeom>
          <a:solidFill>
            <a:srgbClr val="FFFFFF"/>
          </a:solidFill>
          <a:ln/>
        </p:spPr>
        <p:txBody>
          <a:bodyPr/>
          <a:lstStyle/>
          <a:p>
            <a:endParaRPr lang="es-MX"/>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93000">
              <a:schemeClr val="accent4">
                <a:lumMod val="0"/>
                <a:lumOff val="100000"/>
              </a:schemeClr>
            </a:gs>
            <a:gs pos="100000">
              <a:schemeClr val="accent4">
                <a:lumMod val="0"/>
                <a:lumOff val="100000"/>
              </a:schemeClr>
            </a:gs>
            <a:gs pos="100000">
              <a:schemeClr val="accent4">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9.sv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369743" y="60710"/>
            <a:ext cx="10868547" cy="1181298"/>
          </a:xfrm>
          <a:prstGeom prst="rect">
            <a:avLst/>
          </a:prstGeom>
          <a:noFill/>
          <a:ln/>
        </p:spPr>
        <p:txBody>
          <a:bodyPr wrap="square" lIns="0" tIns="0" rIns="0" bIns="0" rtlCol="0" anchor="t">
            <a:normAutofit/>
          </a:bodyPr>
          <a:lstStyle/>
          <a:p>
            <a:pPr marL="0" indent="0" algn="l">
              <a:lnSpc>
                <a:spcPct val="104000"/>
              </a:lnSpc>
              <a:buNone/>
            </a:pPr>
            <a:r>
              <a:rPr lang="en-US" sz="3700" b="1" dirty="0">
                <a:solidFill>
                  <a:srgbClr val="000000"/>
                </a:solidFill>
                <a:latin typeface="Inter Bold" pitchFamily="34" charset="0"/>
                <a:ea typeface="Inter Bold" pitchFamily="34" charset="-122"/>
                <a:cs typeface="Inter Bold" pitchFamily="34" charset="-120"/>
              </a:rPr>
              <a:t>Impacto del Preprocesamiento en Redes Convolucionales (CNN)</a:t>
            </a:r>
            <a:endParaRPr lang="en-US" sz="3700" dirty="0"/>
          </a:p>
        </p:txBody>
      </p:sp>
      <p:sp>
        <p:nvSpPr>
          <p:cNvPr id="3" name="Text 1"/>
          <p:cNvSpPr/>
          <p:nvPr/>
        </p:nvSpPr>
        <p:spPr>
          <a:xfrm>
            <a:off x="369743" y="2505224"/>
            <a:ext cx="10868547" cy="1847552"/>
          </a:xfrm>
          <a:prstGeom prst="rect">
            <a:avLst/>
          </a:prstGeom>
          <a:noFill/>
          <a:ln/>
        </p:spPr>
        <p:txBody>
          <a:bodyPr wrap="square" lIns="0" tIns="0" rIns="0" bIns="0" rtlCol="0" anchor="t"/>
          <a:lstStyle/>
          <a:p>
            <a:pPr marL="0" indent="0" algn="l">
              <a:lnSpc>
                <a:spcPct val="133000"/>
              </a:lnSpc>
              <a:spcAft>
                <a:spcPts val="1650"/>
              </a:spcAft>
              <a:buNone/>
            </a:pPr>
            <a:r>
              <a:rPr lang="en-US" sz="1450" dirty="0">
                <a:solidFill>
                  <a:srgbClr val="272525"/>
                </a:solidFill>
                <a:latin typeface="Inter" pitchFamily="34" charset="0"/>
                <a:ea typeface="Inter" pitchFamily="34" charset="-122"/>
                <a:cs typeface="Inter" pitchFamily="34" charset="-120"/>
              </a:rPr>
              <a:t>Análisis Comparativo: Filtro de Mediana en Clasificación Botánica</a:t>
            </a:r>
            <a:endParaRPr lang="en-US" sz="1450" dirty="0"/>
          </a:p>
          <a:p>
            <a:pPr marL="0" indent="0" algn="l">
              <a:lnSpc>
                <a:spcPct val="133000"/>
              </a:lnSpc>
              <a:spcAft>
                <a:spcPts val="1650"/>
              </a:spcAft>
              <a:buNone/>
            </a:pPr>
            <a:r>
              <a:rPr lang="en-US" sz="1450" dirty="0">
                <a:solidFill>
                  <a:srgbClr val="272525"/>
                </a:solidFill>
                <a:latin typeface="Inter" pitchFamily="34" charset="0"/>
                <a:ea typeface="Inter" pitchFamily="34" charset="-122"/>
                <a:cs typeface="Inter" pitchFamily="34" charset="-120"/>
              </a:rPr>
              <a:t>Alumno: Diego Ricardo Esparza Cortes </a:t>
            </a:r>
            <a:endParaRPr lang="en-US" sz="1450" dirty="0"/>
          </a:p>
          <a:p>
            <a:pPr marL="0" indent="0" algn="l">
              <a:lnSpc>
                <a:spcPct val="133000"/>
              </a:lnSpc>
              <a:spcAft>
                <a:spcPts val="1650"/>
              </a:spcAft>
              <a:buNone/>
            </a:pPr>
            <a:r>
              <a:rPr lang="en-US" sz="1450" dirty="0">
                <a:solidFill>
                  <a:srgbClr val="272525"/>
                </a:solidFill>
                <a:latin typeface="Inter" pitchFamily="34" charset="0"/>
                <a:ea typeface="Inter" pitchFamily="34" charset="-122"/>
                <a:cs typeface="Inter" pitchFamily="34" charset="-120"/>
              </a:rPr>
              <a:t>Técnica Propuesta: Filtro de Mediana (Median Blur)</a:t>
            </a:r>
            <a:endParaRPr lang="en-US" sz="1450" dirty="0"/>
          </a:p>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Fecha de Presentación: 13 de Junio</a:t>
            </a:r>
            <a:endParaRPr lang="en-US" sz="1450" dirty="0"/>
          </a:p>
        </p:txBody>
      </p:sp>
      <p:pic>
        <p:nvPicPr>
          <p:cNvPr id="6" name="Imagen 5">
            <a:extLst>
              <a:ext uri="{FF2B5EF4-FFF2-40B4-BE49-F238E27FC236}">
                <a16:creationId xmlns:a16="http://schemas.microsoft.com/office/drawing/2014/main" id="{439BF2D0-EF18-09CA-F847-966D86F4ADD7}"/>
              </a:ext>
            </a:extLst>
          </p:cNvPr>
          <p:cNvPicPr>
            <a:picLocks noChangeAspect="1"/>
          </p:cNvPicPr>
          <p:nvPr/>
        </p:nvPicPr>
        <p:blipFill>
          <a:blip r:embed="rId3"/>
          <a:stretch>
            <a:fillRect/>
          </a:stretch>
        </p:blipFill>
        <p:spPr>
          <a:xfrm>
            <a:off x="10233498" y="157738"/>
            <a:ext cx="1783404" cy="987242"/>
          </a:xfrm>
          <a:prstGeom prst="rect">
            <a:avLst/>
          </a:prstGeom>
        </p:spPr>
      </p:pic>
      <p:cxnSp>
        <p:nvCxnSpPr>
          <p:cNvPr id="8" name="Conector recto 7">
            <a:extLst>
              <a:ext uri="{FF2B5EF4-FFF2-40B4-BE49-F238E27FC236}">
                <a16:creationId xmlns:a16="http://schemas.microsoft.com/office/drawing/2014/main" id="{605C13E5-BDAD-33BE-F1EF-574A3099242A}"/>
              </a:ext>
            </a:extLst>
          </p:cNvPr>
          <p:cNvCxnSpPr>
            <a:cxnSpLocks/>
          </p:cNvCxnSpPr>
          <p:nvPr/>
        </p:nvCxnSpPr>
        <p:spPr>
          <a:xfrm>
            <a:off x="0" y="1144980"/>
            <a:ext cx="121920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574" y="1404342"/>
            <a:ext cx="5453323" cy="590649"/>
          </a:xfrm>
          <a:prstGeom prst="rect">
            <a:avLst/>
          </a:prstGeom>
          <a:noFill/>
          <a:ln/>
        </p:spPr>
        <p:txBody>
          <a:bodyPr wrap="none" lIns="0" tIns="0" rIns="0" bIns="0" rtlCol="0" anchor="t"/>
          <a:lstStyle/>
          <a:p>
            <a:pPr marL="0" indent="0" algn="l">
              <a:lnSpc>
                <a:spcPct val="104000"/>
              </a:lnSpc>
              <a:buNone/>
            </a:pPr>
            <a:r>
              <a:rPr lang="en-US" sz="3700" b="1" dirty="0">
                <a:solidFill>
                  <a:srgbClr val="000000"/>
                </a:solidFill>
                <a:latin typeface="Inter Bold" pitchFamily="34" charset="0"/>
                <a:ea typeface="Inter Bold" pitchFamily="34" charset="-122"/>
                <a:cs typeface="Inter Bold" pitchFamily="34" charset="-120"/>
              </a:rPr>
              <a:t>Justificación Teórica</a:t>
            </a:r>
            <a:endParaRPr lang="en-US" sz="3700" dirty="0"/>
          </a:p>
        </p:txBody>
      </p:sp>
      <p:sp>
        <p:nvSpPr>
          <p:cNvPr id="3" name="Text 1"/>
          <p:cNvSpPr/>
          <p:nvPr/>
        </p:nvSpPr>
        <p:spPr>
          <a:xfrm>
            <a:off x="661574" y="2070596"/>
            <a:ext cx="6757620" cy="472480"/>
          </a:xfrm>
          <a:prstGeom prst="rect">
            <a:avLst/>
          </a:prstGeom>
          <a:noFill/>
          <a:ln/>
        </p:spPr>
        <p:txBody>
          <a:bodyPr wrap="none" lIns="0" tIns="0" rIns="0" bIns="0" rtlCol="0" anchor="t"/>
          <a:lstStyle/>
          <a:p>
            <a:pPr marL="0" indent="0" algn="l">
              <a:lnSpc>
                <a:spcPct val="104000"/>
              </a:lnSpc>
              <a:buNone/>
            </a:pPr>
            <a:r>
              <a:rPr lang="en-US" sz="2950" b="1" dirty="0">
                <a:solidFill>
                  <a:srgbClr val="000000"/>
                </a:solidFill>
                <a:latin typeface="Inter Bold" pitchFamily="34" charset="0"/>
                <a:ea typeface="Inter Bold" pitchFamily="34" charset="-122"/>
                <a:cs typeface="Inter Bold" pitchFamily="34" charset="-120"/>
              </a:rPr>
              <a:t>¿Qué hace y por qué se propone?</a:t>
            </a:r>
            <a:endParaRPr lang="en-US" sz="2950" dirty="0"/>
          </a:p>
        </p:txBody>
      </p:sp>
      <p:sp>
        <p:nvSpPr>
          <p:cNvPr id="4" name="Text 2"/>
          <p:cNvSpPr/>
          <p:nvPr/>
        </p:nvSpPr>
        <p:spPr>
          <a:xfrm>
            <a:off x="661574" y="2996605"/>
            <a:ext cx="6903071" cy="2286992"/>
          </a:xfrm>
          <a:prstGeom prst="rect">
            <a:avLst/>
          </a:prstGeom>
          <a:noFill/>
          <a:ln/>
        </p:spPr>
        <p:txBody>
          <a:bodyPr wrap="square" lIns="0" tIns="0" rIns="0" bIns="0" rtlCol="0" anchor="t">
            <a:normAutofit/>
          </a:bodyPr>
          <a:lstStyle/>
          <a:p>
            <a:pPr marL="0" indent="0" algn="l">
              <a:lnSpc>
                <a:spcPct val="133000"/>
              </a:lnSpc>
              <a:spcAft>
                <a:spcPts val="1300"/>
              </a:spcAft>
              <a:buNone/>
            </a:pPr>
            <a:r>
              <a:rPr lang="en-US" sz="1450" dirty="0">
                <a:solidFill>
                  <a:srgbClr val="272525"/>
                </a:solidFill>
                <a:latin typeface="Inter" pitchFamily="34" charset="0"/>
                <a:ea typeface="Inter" pitchFamily="34" charset="-122"/>
                <a:cs typeface="Inter" pitchFamily="34" charset="-120"/>
              </a:rPr>
              <a:t>El Filtro de Mediana es un operador no lineal que reemplaza cada píxel por la mediana de su vecindad local. Se propone para este problema específico debido a que las imágenes botánicas presentan ruido de alta frecuencia en los fondos (pasto, hojas, variaciones de luz) que confunden a la CNN.</a:t>
            </a:r>
            <a:endParaRPr lang="en-US" sz="1450" dirty="0"/>
          </a:p>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Efecto esperado: Eliminar el ruido 'sal y pimienta' y suavizar texturas irrelevantes, obligando a la red a enfocarse en la morfología macro (bordes y siluetas) de los pétalos para mejorar la discriminación entre clases similares.</a:t>
            </a:r>
            <a:endParaRPr lang="en-US" sz="1450" dirty="0"/>
          </a:p>
        </p:txBody>
      </p:sp>
      <p:pic>
        <p:nvPicPr>
          <p:cNvPr id="5" name="Image 0" descr="preencoded.png"/>
          <p:cNvPicPr>
            <a:picLocks noChangeAspect="1"/>
          </p:cNvPicPr>
          <p:nvPr/>
        </p:nvPicPr>
        <p:blipFill>
          <a:blip r:embed="rId3"/>
          <a:stretch>
            <a:fillRect/>
          </a:stretch>
        </p:blipFill>
        <p:spPr>
          <a:xfrm>
            <a:off x="8032152" y="3039170"/>
            <a:ext cx="1904952" cy="1905000"/>
          </a:xfrm>
          <a:prstGeom prst="rect">
            <a:avLst/>
          </a:prstGeom>
        </p:spPr>
      </p:pic>
      <p:pic>
        <p:nvPicPr>
          <p:cNvPr id="6" name="Imagen 5">
            <a:extLst>
              <a:ext uri="{FF2B5EF4-FFF2-40B4-BE49-F238E27FC236}">
                <a16:creationId xmlns:a16="http://schemas.microsoft.com/office/drawing/2014/main" id="{53676DF8-1325-3EA4-7768-892B708957EA}"/>
              </a:ext>
            </a:extLst>
          </p:cNvPr>
          <p:cNvPicPr>
            <a:picLocks noChangeAspect="1"/>
          </p:cNvPicPr>
          <p:nvPr/>
        </p:nvPicPr>
        <p:blipFill>
          <a:blip r:embed="rId4"/>
          <a:stretch>
            <a:fillRect/>
          </a:stretch>
        </p:blipFill>
        <p:spPr>
          <a:xfrm>
            <a:off x="10233498" y="157738"/>
            <a:ext cx="1783404" cy="987242"/>
          </a:xfrm>
          <a:prstGeom prst="rect">
            <a:avLst/>
          </a:prstGeom>
        </p:spPr>
      </p:pic>
      <p:cxnSp>
        <p:nvCxnSpPr>
          <p:cNvPr id="8" name="Conector recto 7">
            <a:extLst>
              <a:ext uri="{FF2B5EF4-FFF2-40B4-BE49-F238E27FC236}">
                <a16:creationId xmlns:a16="http://schemas.microsoft.com/office/drawing/2014/main" id="{EAA64BF0-5A35-DBB1-FA29-E53EB3D0EF69}"/>
              </a:ext>
            </a:extLst>
          </p:cNvPr>
          <p:cNvCxnSpPr>
            <a:cxnSpLocks/>
          </p:cNvCxnSpPr>
          <p:nvPr/>
        </p:nvCxnSpPr>
        <p:spPr>
          <a:xfrm>
            <a:off x="0" y="1144980"/>
            <a:ext cx="121920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086120" y="538361"/>
            <a:ext cx="7957343" cy="544513"/>
          </a:xfrm>
          <a:prstGeom prst="rect">
            <a:avLst/>
          </a:prstGeom>
          <a:noFill/>
          <a:ln/>
        </p:spPr>
        <p:txBody>
          <a:bodyPr wrap="none" lIns="0" tIns="0" rIns="0" bIns="0" rtlCol="0" anchor="t"/>
          <a:lstStyle/>
          <a:p>
            <a:pPr marL="0" indent="0" algn="l">
              <a:lnSpc>
                <a:spcPct val="104000"/>
              </a:lnSpc>
              <a:buNone/>
            </a:pPr>
            <a:r>
              <a:rPr lang="en-US" sz="3400" b="1" dirty="0">
                <a:solidFill>
                  <a:srgbClr val="000000"/>
                </a:solidFill>
                <a:latin typeface="Inter Bold" pitchFamily="34" charset="0"/>
                <a:ea typeface="Inter Bold" pitchFamily="34" charset="-122"/>
                <a:cs typeface="Inter Bold" pitchFamily="34" charset="-120"/>
              </a:rPr>
              <a:t>Evidencia Visual: Antes y Después</a:t>
            </a:r>
            <a:endParaRPr lang="en-US" sz="3400" dirty="0"/>
          </a:p>
        </p:txBody>
      </p:sp>
      <p:sp>
        <p:nvSpPr>
          <p:cNvPr id="3" name="Shape 1"/>
          <p:cNvSpPr/>
          <p:nvPr/>
        </p:nvSpPr>
        <p:spPr>
          <a:xfrm>
            <a:off x="1843785" y="1481665"/>
            <a:ext cx="2021234" cy="318691"/>
          </a:xfrm>
          <a:prstGeom prst="roundRect">
            <a:avLst>
              <a:gd name="adj" fmla="val 18372"/>
            </a:avLst>
          </a:prstGeom>
          <a:solidFill>
            <a:srgbClr val="DADBF1"/>
          </a:solidFill>
          <a:ln/>
        </p:spPr>
        <p:txBody>
          <a:bodyPr/>
          <a:lstStyle/>
          <a:p>
            <a:endParaRPr lang="es-MX"/>
          </a:p>
        </p:txBody>
      </p:sp>
      <p:sp>
        <p:nvSpPr>
          <p:cNvPr id="4" name="Text 2"/>
          <p:cNvSpPr/>
          <p:nvPr/>
        </p:nvSpPr>
        <p:spPr>
          <a:xfrm>
            <a:off x="2027173" y="1529621"/>
            <a:ext cx="2421869" cy="214313"/>
          </a:xfrm>
          <a:prstGeom prst="rect">
            <a:avLst/>
          </a:prstGeom>
          <a:noFill/>
          <a:ln/>
        </p:spPr>
        <p:txBody>
          <a:bodyPr wrap="none" lIns="0" tIns="0" rIns="0" bIns="0" rtlCol="0" anchor="t"/>
          <a:lstStyle/>
          <a:p>
            <a:pPr marL="0" indent="0" algn="l">
              <a:lnSpc>
                <a:spcPct val="128000"/>
              </a:lnSpc>
              <a:buNone/>
            </a:pPr>
            <a:r>
              <a:rPr lang="en-US" sz="1050" dirty="0">
                <a:solidFill>
                  <a:srgbClr val="272525"/>
                </a:solidFill>
                <a:latin typeface="Inter" pitchFamily="34" charset="0"/>
                <a:ea typeface="Inter" pitchFamily="34" charset="-122"/>
                <a:cs typeface="Inter" pitchFamily="34" charset="-120"/>
              </a:rPr>
              <a:t>ORIGINAL (SIN PROCESAR)</a:t>
            </a:r>
            <a:endParaRPr lang="en-US" sz="1050" dirty="0"/>
          </a:p>
        </p:txBody>
      </p:sp>
      <p:sp>
        <p:nvSpPr>
          <p:cNvPr id="6" name="Text 3"/>
          <p:cNvSpPr/>
          <p:nvPr/>
        </p:nvSpPr>
        <p:spPr>
          <a:xfrm>
            <a:off x="839504" y="5777786"/>
            <a:ext cx="4797206" cy="535583"/>
          </a:xfrm>
          <a:prstGeom prst="rect">
            <a:avLst/>
          </a:prstGeom>
          <a:noFill/>
          <a:ln/>
        </p:spPr>
        <p:txBody>
          <a:bodyPr wrap="square" lIns="0" tIns="0" rIns="0" bIns="0" rtlCol="0" anchor="t">
            <a:normAutofit/>
          </a:bodyPr>
          <a:lstStyle/>
          <a:p>
            <a:pPr marL="0" indent="0" algn="l">
              <a:lnSpc>
                <a:spcPct val="128000"/>
              </a:lnSpc>
              <a:buNone/>
            </a:pPr>
            <a:r>
              <a:rPr lang="en-US" sz="1350" dirty="0">
                <a:solidFill>
                  <a:srgbClr val="272525"/>
                </a:solidFill>
                <a:latin typeface="Inter" pitchFamily="34" charset="0"/>
                <a:ea typeface="Inter" pitchFamily="34" charset="-122"/>
                <a:cs typeface="Inter" pitchFamily="34" charset="-120"/>
              </a:rPr>
              <a:t>Presencia de ruido textural y variaciones granulares en el fondo.</a:t>
            </a:r>
            <a:endParaRPr lang="en-US" sz="1350" dirty="0"/>
          </a:p>
        </p:txBody>
      </p:sp>
      <p:sp>
        <p:nvSpPr>
          <p:cNvPr id="7" name="Shape 4"/>
          <p:cNvSpPr/>
          <p:nvPr/>
        </p:nvSpPr>
        <p:spPr>
          <a:xfrm>
            <a:off x="6471104" y="1504454"/>
            <a:ext cx="2276021" cy="318691"/>
          </a:xfrm>
          <a:prstGeom prst="roundRect">
            <a:avLst>
              <a:gd name="adj" fmla="val 18372"/>
            </a:avLst>
          </a:prstGeom>
          <a:solidFill>
            <a:srgbClr val="DADBF1"/>
          </a:solidFill>
          <a:ln/>
        </p:spPr>
        <p:txBody>
          <a:bodyPr/>
          <a:lstStyle/>
          <a:p>
            <a:endParaRPr lang="es-MX"/>
          </a:p>
        </p:txBody>
      </p:sp>
      <p:sp>
        <p:nvSpPr>
          <p:cNvPr id="8" name="Text 5"/>
          <p:cNvSpPr/>
          <p:nvPr/>
        </p:nvSpPr>
        <p:spPr>
          <a:xfrm>
            <a:off x="6876392" y="1578694"/>
            <a:ext cx="2676656" cy="214313"/>
          </a:xfrm>
          <a:prstGeom prst="rect">
            <a:avLst/>
          </a:prstGeom>
          <a:noFill/>
          <a:ln/>
        </p:spPr>
        <p:txBody>
          <a:bodyPr wrap="none" lIns="0" tIns="0" rIns="0" bIns="0" rtlCol="0" anchor="t"/>
          <a:lstStyle/>
          <a:p>
            <a:pPr marL="0" indent="0" algn="l">
              <a:lnSpc>
                <a:spcPct val="128000"/>
              </a:lnSpc>
              <a:buNone/>
            </a:pPr>
            <a:r>
              <a:rPr lang="en-US" sz="1050" dirty="0">
                <a:solidFill>
                  <a:srgbClr val="272525"/>
                </a:solidFill>
                <a:latin typeface="Inter" pitchFamily="34" charset="0"/>
                <a:ea typeface="Inter" pitchFamily="34" charset="-122"/>
                <a:cs typeface="Inter" pitchFamily="34" charset="-120"/>
              </a:rPr>
              <a:t>FILTRO DE MEDIANA </a:t>
            </a:r>
            <a:endParaRPr lang="en-US" sz="1050" dirty="0"/>
          </a:p>
        </p:txBody>
      </p:sp>
      <p:sp>
        <p:nvSpPr>
          <p:cNvPr id="10" name="Text 6"/>
          <p:cNvSpPr/>
          <p:nvPr/>
        </p:nvSpPr>
        <p:spPr>
          <a:xfrm>
            <a:off x="6096000" y="5639495"/>
            <a:ext cx="4797206" cy="535583"/>
          </a:xfrm>
          <a:prstGeom prst="rect">
            <a:avLst/>
          </a:prstGeom>
          <a:noFill/>
          <a:ln/>
        </p:spPr>
        <p:txBody>
          <a:bodyPr wrap="square" lIns="0" tIns="0" rIns="0" bIns="0" rtlCol="0" anchor="t">
            <a:normAutofit/>
          </a:bodyPr>
          <a:lstStyle/>
          <a:p>
            <a:pPr marL="0" indent="0" algn="l">
              <a:lnSpc>
                <a:spcPct val="128000"/>
              </a:lnSpc>
              <a:buNone/>
            </a:pPr>
            <a:r>
              <a:rPr lang="en-US" sz="1350" dirty="0">
                <a:solidFill>
                  <a:srgbClr val="272525"/>
                </a:solidFill>
                <a:latin typeface="Inter" pitchFamily="34" charset="0"/>
                <a:ea typeface="Inter" pitchFamily="34" charset="-122"/>
                <a:cs typeface="Inter" pitchFamily="34" charset="-120"/>
              </a:rPr>
              <a:t>Fondo suavizado y bordes preservados. Redimensionamiento estricto.</a:t>
            </a:r>
            <a:endParaRPr lang="en-US" sz="1350" dirty="0"/>
          </a:p>
        </p:txBody>
      </p:sp>
      <p:pic>
        <p:nvPicPr>
          <p:cNvPr id="12" name="Imagen 11">
            <a:extLst>
              <a:ext uri="{FF2B5EF4-FFF2-40B4-BE49-F238E27FC236}">
                <a16:creationId xmlns:a16="http://schemas.microsoft.com/office/drawing/2014/main" id="{71BCAD68-D641-9662-161C-9794FD1EADA6}"/>
              </a:ext>
            </a:extLst>
          </p:cNvPr>
          <p:cNvPicPr>
            <a:picLocks noChangeAspect="1"/>
          </p:cNvPicPr>
          <p:nvPr/>
        </p:nvPicPr>
        <p:blipFill>
          <a:blip r:embed="rId3"/>
          <a:stretch>
            <a:fillRect/>
          </a:stretch>
        </p:blipFill>
        <p:spPr>
          <a:xfrm>
            <a:off x="1559710" y="1901824"/>
            <a:ext cx="2788554" cy="3718072"/>
          </a:xfrm>
          <a:prstGeom prst="rect">
            <a:avLst/>
          </a:prstGeom>
        </p:spPr>
      </p:pic>
      <p:pic>
        <p:nvPicPr>
          <p:cNvPr id="14" name="Imagen 13">
            <a:extLst>
              <a:ext uri="{FF2B5EF4-FFF2-40B4-BE49-F238E27FC236}">
                <a16:creationId xmlns:a16="http://schemas.microsoft.com/office/drawing/2014/main" id="{E4AB8245-08E2-C63F-EC71-D099562EBDE1}"/>
              </a:ext>
            </a:extLst>
          </p:cNvPr>
          <p:cNvPicPr>
            <a:picLocks noChangeAspect="1"/>
          </p:cNvPicPr>
          <p:nvPr/>
        </p:nvPicPr>
        <p:blipFill>
          <a:blip r:embed="rId4"/>
          <a:stretch>
            <a:fillRect/>
          </a:stretch>
        </p:blipFill>
        <p:spPr>
          <a:xfrm>
            <a:off x="6259483" y="1885279"/>
            <a:ext cx="2783980" cy="3711972"/>
          </a:xfrm>
          <a:prstGeom prst="rect">
            <a:avLst/>
          </a:prstGeom>
        </p:spPr>
      </p:pic>
      <p:pic>
        <p:nvPicPr>
          <p:cNvPr id="15" name="Imagen 14">
            <a:extLst>
              <a:ext uri="{FF2B5EF4-FFF2-40B4-BE49-F238E27FC236}">
                <a16:creationId xmlns:a16="http://schemas.microsoft.com/office/drawing/2014/main" id="{D7880CB6-31A3-B3C6-5A3B-00E86E9C3257}"/>
              </a:ext>
            </a:extLst>
          </p:cNvPr>
          <p:cNvPicPr>
            <a:picLocks noChangeAspect="1"/>
          </p:cNvPicPr>
          <p:nvPr/>
        </p:nvPicPr>
        <p:blipFill>
          <a:blip r:embed="rId5"/>
          <a:stretch>
            <a:fillRect/>
          </a:stretch>
        </p:blipFill>
        <p:spPr>
          <a:xfrm>
            <a:off x="10233498" y="157738"/>
            <a:ext cx="1783404" cy="987242"/>
          </a:xfrm>
          <a:prstGeom prst="rect">
            <a:avLst/>
          </a:prstGeom>
        </p:spPr>
      </p:pic>
      <p:cxnSp>
        <p:nvCxnSpPr>
          <p:cNvPr id="16" name="Conector recto 15">
            <a:extLst>
              <a:ext uri="{FF2B5EF4-FFF2-40B4-BE49-F238E27FC236}">
                <a16:creationId xmlns:a16="http://schemas.microsoft.com/office/drawing/2014/main" id="{E56EA2FE-7238-390B-41CA-AD06E9E3007C}"/>
              </a:ext>
            </a:extLst>
          </p:cNvPr>
          <p:cNvCxnSpPr>
            <a:cxnSpLocks/>
          </p:cNvCxnSpPr>
          <p:nvPr/>
        </p:nvCxnSpPr>
        <p:spPr>
          <a:xfrm>
            <a:off x="0" y="1144980"/>
            <a:ext cx="121920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93" y="398909"/>
            <a:ext cx="8448761" cy="590649"/>
          </a:xfrm>
          <a:prstGeom prst="rect">
            <a:avLst/>
          </a:prstGeom>
          <a:noFill/>
          <a:ln/>
        </p:spPr>
        <p:txBody>
          <a:bodyPr wrap="none" lIns="0" tIns="0" rIns="0" bIns="0" rtlCol="0" anchor="t"/>
          <a:lstStyle/>
          <a:p>
            <a:pPr marL="0" indent="0" algn="l">
              <a:lnSpc>
                <a:spcPct val="104000"/>
              </a:lnSpc>
              <a:buNone/>
            </a:pPr>
            <a:r>
              <a:rPr lang="en-US" sz="3700" b="1" dirty="0">
                <a:solidFill>
                  <a:srgbClr val="000000"/>
                </a:solidFill>
                <a:latin typeface="Inter Bold" pitchFamily="34" charset="0"/>
                <a:ea typeface="Inter Bold" pitchFamily="34" charset="-122"/>
                <a:cs typeface="Inter Bold" pitchFamily="34" charset="-120"/>
              </a:rPr>
              <a:t>Línea Base: Modelo Original (71%)</a:t>
            </a:r>
            <a:endParaRPr lang="en-US" sz="3700" dirty="0"/>
          </a:p>
        </p:txBody>
      </p:sp>
      <p:sp>
        <p:nvSpPr>
          <p:cNvPr id="3" name="Shape 1"/>
          <p:cNvSpPr/>
          <p:nvPr/>
        </p:nvSpPr>
        <p:spPr>
          <a:xfrm>
            <a:off x="661574" y="2023666"/>
            <a:ext cx="10868547" cy="3264297"/>
          </a:xfrm>
          <a:prstGeom prst="roundRect">
            <a:avLst>
              <a:gd name="adj" fmla="val 2432"/>
            </a:avLst>
          </a:prstGeom>
          <a:noFill/>
          <a:ln w="6350">
            <a:solidFill>
              <a:srgbClr val="000000">
                <a:alpha val="8000"/>
              </a:srgbClr>
            </a:solidFill>
            <a:prstDash val="solid"/>
          </a:ln>
        </p:spPr>
        <p:txBody>
          <a:bodyPr/>
          <a:lstStyle/>
          <a:p>
            <a:endParaRPr lang="es-MX"/>
          </a:p>
        </p:txBody>
      </p:sp>
      <p:sp>
        <p:nvSpPr>
          <p:cNvPr id="4" name="Shape 2"/>
          <p:cNvSpPr/>
          <p:nvPr/>
        </p:nvSpPr>
        <p:spPr>
          <a:xfrm>
            <a:off x="667924" y="2030016"/>
            <a:ext cx="10855847" cy="541933"/>
          </a:xfrm>
          <a:prstGeom prst="rect">
            <a:avLst/>
          </a:prstGeom>
          <a:solidFill>
            <a:srgbClr val="FFFFFF">
              <a:alpha val="4000"/>
            </a:srgbClr>
          </a:solidFill>
          <a:ln/>
        </p:spPr>
        <p:txBody>
          <a:bodyPr/>
          <a:lstStyle/>
          <a:p>
            <a:endParaRPr lang="es-MX"/>
          </a:p>
        </p:txBody>
      </p:sp>
      <p:sp>
        <p:nvSpPr>
          <p:cNvPr id="5" name="Text 3"/>
          <p:cNvSpPr/>
          <p:nvPr/>
        </p:nvSpPr>
        <p:spPr>
          <a:xfrm>
            <a:off x="856931" y="2149773"/>
            <a:ext cx="2942358"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CLASE</a:t>
            </a:r>
            <a:endParaRPr lang="en-US" sz="1450" dirty="0"/>
          </a:p>
        </p:txBody>
      </p:sp>
      <p:sp>
        <p:nvSpPr>
          <p:cNvPr id="6" name="Text 4"/>
          <p:cNvSpPr/>
          <p:nvPr/>
        </p:nvSpPr>
        <p:spPr>
          <a:xfrm>
            <a:off x="3574068" y="2149773"/>
            <a:ext cx="2939183"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PRECISION</a:t>
            </a:r>
            <a:endParaRPr lang="en-US" sz="1450" dirty="0"/>
          </a:p>
        </p:txBody>
      </p:sp>
      <p:sp>
        <p:nvSpPr>
          <p:cNvPr id="7" name="Text 5"/>
          <p:cNvSpPr/>
          <p:nvPr/>
        </p:nvSpPr>
        <p:spPr>
          <a:xfrm>
            <a:off x="6288029" y="2149773"/>
            <a:ext cx="2939183"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RECALL</a:t>
            </a:r>
            <a:endParaRPr lang="en-US" sz="1450" dirty="0"/>
          </a:p>
        </p:txBody>
      </p:sp>
      <p:sp>
        <p:nvSpPr>
          <p:cNvPr id="8" name="Text 6"/>
          <p:cNvSpPr/>
          <p:nvPr/>
        </p:nvSpPr>
        <p:spPr>
          <a:xfrm>
            <a:off x="9001991" y="2149773"/>
            <a:ext cx="2942358"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F1-SCORE</a:t>
            </a:r>
            <a:endParaRPr lang="en-US" sz="1450" dirty="0"/>
          </a:p>
        </p:txBody>
      </p:sp>
      <p:sp>
        <p:nvSpPr>
          <p:cNvPr id="9" name="Shape 7"/>
          <p:cNvSpPr/>
          <p:nvPr/>
        </p:nvSpPr>
        <p:spPr>
          <a:xfrm>
            <a:off x="667924" y="2571948"/>
            <a:ext cx="10855847" cy="541933"/>
          </a:xfrm>
          <a:prstGeom prst="rect">
            <a:avLst/>
          </a:prstGeom>
          <a:solidFill>
            <a:srgbClr val="000000">
              <a:alpha val="4000"/>
            </a:srgbClr>
          </a:solidFill>
          <a:ln/>
        </p:spPr>
        <p:txBody>
          <a:bodyPr/>
          <a:lstStyle/>
          <a:p>
            <a:endParaRPr lang="es-MX"/>
          </a:p>
        </p:txBody>
      </p:sp>
      <p:sp>
        <p:nvSpPr>
          <p:cNvPr id="10" name="Text 8"/>
          <p:cNvSpPr/>
          <p:nvPr/>
        </p:nvSpPr>
        <p:spPr>
          <a:xfrm>
            <a:off x="856931" y="2691705"/>
            <a:ext cx="2942358"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Daisy</a:t>
            </a:r>
            <a:endParaRPr lang="en-US" sz="1450" dirty="0"/>
          </a:p>
        </p:txBody>
      </p:sp>
      <p:sp>
        <p:nvSpPr>
          <p:cNvPr id="11" name="Text 9"/>
          <p:cNvSpPr/>
          <p:nvPr/>
        </p:nvSpPr>
        <p:spPr>
          <a:xfrm>
            <a:off x="3574068" y="2691705"/>
            <a:ext cx="2939183"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0.98</a:t>
            </a:r>
            <a:endParaRPr lang="en-US" sz="1450" dirty="0"/>
          </a:p>
        </p:txBody>
      </p:sp>
      <p:sp>
        <p:nvSpPr>
          <p:cNvPr id="12" name="Text 10"/>
          <p:cNvSpPr/>
          <p:nvPr/>
        </p:nvSpPr>
        <p:spPr>
          <a:xfrm>
            <a:off x="6288029" y="2691705"/>
            <a:ext cx="2939183"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0.66</a:t>
            </a:r>
            <a:endParaRPr lang="en-US" sz="1450" dirty="0"/>
          </a:p>
        </p:txBody>
      </p:sp>
      <p:sp>
        <p:nvSpPr>
          <p:cNvPr id="13" name="Text 11"/>
          <p:cNvSpPr/>
          <p:nvPr/>
        </p:nvSpPr>
        <p:spPr>
          <a:xfrm>
            <a:off x="9001991" y="2691705"/>
            <a:ext cx="2942358"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0.79</a:t>
            </a:r>
            <a:endParaRPr lang="en-US" sz="1450" dirty="0"/>
          </a:p>
        </p:txBody>
      </p:sp>
      <p:sp>
        <p:nvSpPr>
          <p:cNvPr id="14" name="Shape 12"/>
          <p:cNvSpPr/>
          <p:nvPr/>
        </p:nvSpPr>
        <p:spPr>
          <a:xfrm>
            <a:off x="667924" y="3113881"/>
            <a:ext cx="10855847" cy="541933"/>
          </a:xfrm>
          <a:prstGeom prst="rect">
            <a:avLst/>
          </a:prstGeom>
          <a:solidFill>
            <a:srgbClr val="FFFFFF">
              <a:alpha val="4000"/>
            </a:srgbClr>
          </a:solidFill>
          <a:ln/>
        </p:spPr>
        <p:txBody>
          <a:bodyPr/>
          <a:lstStyle/>
          <a:p>
            <a:endParaRPr lang="es-MX"/>
          </a:p>
        </p:txBody>
      </p:sp>
      <p:sp>
        <p:nvSpPr>
          <p:cNvPr id="15" name="Text 13"/>
          <p:cNvSpPr/>
          <p:nvPr/>
        </p:nvSpPr>
        <p:spPr>
          <a:xfrm>
            <a:off x="856931" y="3233638"/>
            <a:ext cx="2942358"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Dandelion</a:t>
            </a:r>
            <a:endParaRPr lang="en-US" sz="1450" dirty="0"/>
          </a:p>
        </p:txBody>
      </p:sp>
      <p:sp>
        <p:nvSpPr>
          <p:cNvPr id="16" name="Text 14"/>
          <p:cNvSpPr/>
          <p:nvPr/>
        </p:nvSpPr>
        <p:spPr>
          <a:xfrm>
            <a:off x="3574068" y="3233638"/>
            <a:ext cx="2939183"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0.78</a:t>
            </a:r>
            <a:endParaRPr lang="en-US" sz="1450" dirty="0"/>
          </a:p>
        </p:txBody>
      </p:sp>
      <p:sp>
        <p:nvSpPr>
          <p:cNvPr id="17" name="Text 15"/>
          <p:cNvSpPr/>
          <p:nvPr/>
        </p:nvSpPr>
        <p:spPr>
          <a:xfrm>
            <a:off x="6288029" y="3233638"/>
            <a:ext cx="2939183"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0.88</a:t>
            </a:r>
            <a:endParaRPr lang="en-US" sz="1450" dirty="0"/>
          </a:p>
        </p:txBody>
      </p:sp>
      <p:sp>
        <p:nvSpPr>
          <p:cNvPr id="18" name="Text 16"/>
          <p:cNvSpPr/>
          <p:nvPr/>
        </p:nvSpPr>
        <p:spPr>
          <a:xfrm>
            <a:off x="9001991" y="3233638"/>
            <a:ext cx="2942358"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0.83</a:t>
            </a:r>
            <a:endParaRPr lang="en-US" sz="1450" dirty="0"/>
          </a:p>
        </p:txBody>
      </p:sp>
      <p:sp>
        <p:nvSpPr>
          <p:cNvPr id="19" name="Shape 17"/>
          <p:cNvSpPr/>
          <p:nvPr/>
        </p:nvSpPr>
        <p:spPr>
          <a:xfrm>
            <a:off x="667924" y="3655814"/>
            <a:ext cx="10855847" cy="541933"/>
          </a:xfrm>
          <a:prstGeom prst="rect">
            <a:avLst/>
          </a:prstGeom>
          <a:solidFill>
            <a:srgbClr val="000000">
              <a:alpha val="4000"/>
            </a:srgbClr>
          </a:solidFill>
          <a:ln/>
        </p:spPr>
        <p:txBody>
          <a:bodyPr/>
          <a:lstStyle/>
          <a:p>
            <a:endParaRPr lang="es-MX"/>
          </a:p>
        </p:txBody>
      </p:sp>
      <p:sp>
        <p:nvSpPr>
          <p:cNvPr id="20" name="Text 18"/>
          <p:cNvSpPr/>
          <p:nvPr/>
        </p:nvSpPr>
        <p:spPr>
          <a:xfrm>
            <a:off x="856931" y="3775571"/>
            <a:ext cx="2942358"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Rose</a:t>
            </a:r>
            <a:endParaRPr lang="en-US" sz="1450" dirty="0"/>
          </a:p>
        </p:txBody>
      </p:sp>
      <p:sp>
        <p:nvSpPr>
          <p:cNvPr id="21" name="Text 19"/>
          <p:cNvSpPr/>
          <p:nvPr/>
        </p:nvSpPr>
        <p:spPr>
          <a:xfrm>
            <a:off x="3574068" y="3775571"/>
            <a:ext cx="2939183"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0.48</a:t>
            </a:r>
            <a:endParaRPr lang="en-US" sz="1450" dirty="0"/>
          </a:p>
        </p:txBody>
      </p:sp>
      <p:sp>
        <p:nvSpPr>
          <p:cNvPr id="22" name="Text 20"/>
          <p:cNvSpPr/>
          <p:nvPr/>
        </p:nvSpPr>
        <p:spPr>
          <a:xfrm>
            <a:off x="6288029" y="3775571"/>
            <a:ext cx="2939183"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0.87</a:t>
            </a:r>
            <a:endParaRPr lang="en-US" sz="1450" dirty="0"/>
          </a:p>
        </p:txBody>
      </p:sp>
      <p:sp>
        <p:nvSpPr>
          <p:cNvPr id="23" name="Text 21"/>
          <p:cNvSpPr/>
          <p:nvPr/>
        </p:nvSpPr>
        <p:spPr>
          <a:xfrm>
            <a:off x="9001991" y="3775571"/>
            <a:ext cx="2942358"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0.62</a:t>
            </a:r>
            <a:endParaRPr lang="en-US" sz="1450" dirty="0"/>
          </a:p>
        </p:txBody>
      </p:sp>
      <p:sp>
        <p:nvSpPr>
          <p:cNvPr id="24" name="Shape 22"/>
          <p:cNvSpPr/>
          <p:nvPr/>
        </p:nvSpPr>
        <p:spPr>
          <a:xfrm>
            <a:off x="667924" y="4197747"/>
            <a:ext cx="10855847" cy="541933"/>
          </a:xfrm>
          <a:prstGeom prst="rect">
            <a:avLst/>
          </a:prstGeom>
          <a:solidFill>
            <a:srgbClr val="FFFFFF">
              <a:alpha val="4000"/>
            </a:srgbClr>
          </a:solidFill>
          <a:ln/>
        </p:spPr>
        <p:txBody>
          <a:bodyPr/>
          <a:lstStyle/>
          <a:p>
            <a:endParaRPr lang="es-MX"/>
          </a:p>
        </p:txBody>
      </p:sp>
      <p:sp>
        <p:nvSpPr>
          <p:cNvPr id="25" name="Text 23"/>
          <p:cNvSpPr/>
          <p:nvPr/>
        </p:nvSpPr>
        <p:spPr>
          <a:xfrm>
            <a:off x="856931" y="4317504"/>
            <a:ext cx="2942358"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Sunflower</a:t>
            </a:r>
            <a:endParaRPr lang="en-US" sz="1450" dirty="0"/>
          </a:p>
        </p:txBody>
      </p:sp>
      <p:sp>
        <p:nvSpPr>
          <p:cNvPr id="26" name="Text 24"/>
          <p:cNvSpPr/>
          <p:nvPr/>
        </p:nvSpPr>
        <p:spPr>
          <a:xfrm>
            <a:off x="3574068" y="4317504"/>
            <a:ext cx="2939183"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0.75</a:t>
            </a:r>
            <a:endParaRPr lang="en-US" sz="1450" dirty="0"/>
          </a:p>
        </p:txBody>
      </p:sp>
      <p:sp>
        <p:nvSpPr>
          <p:cNvPr id="27" name="Text 25"/>
          <p:cNvSpPr/>
          <p:nvPr/>
        </p:nvSpPr>
        <p:spPr>
          <a:xfrm>
            <a:off x="6288029" y="4317504"/>
            <a:ext cx="2939183"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0.80</a:t>
            </a:r>
            <a:endParaRPr lang="en-US" sz="1450" dirty="0"/>
          </a:p>
        </p:txBody>
      </p:sp>
      <p:sp>
        <p:nvSpPr>
          <p:cNvPr id="28" name="Text 26"/>
          <p:cNvSpPr/>
          <p:nvPr/>
        </p:nvSpPr>
        <p:spPr>
          <a:xfrm>
            <a:off x="9001991" y="4317504"/>
            <a:ext cx="2942358"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0.77</a:t>
            </a:r>
            <a:endParaRPr lang="en-US" sz="1450" dirty="0"/>
          </a:p>
        </p:txBody>
      </p:sp>
      <p:sp>
        <p:nvSpPr>
          <p:cNvPr id="29" name="Shape 27"/>
          <p:cNvSpPr/>
          <p:nvPr/>
        </p:nvSpPr>
        <p:spPr>
          <a:xfrm>
            <a:off x="667924" y="4739680"/>
            <a:ext cx="10855847" cy="541933"/>
          </a:xfrm>
          <a:prstGeom prst="rect">
            <a:avLst/>
          </a:prstGeom>
          <a:solidFill>
            <a:srgbClr val="000000">
              <a:alpha val="4000"/>
            </a:srgbClr>
          </a:solidFill>
          <a:ln/>
        </p:spPr>
        <p:txBody>
          <a:bodyPr/>
          <a:lstStyle/>
          <a:p>
            <a:endParaRPr lang="es-MX"/>
          </a:p>
        </p:txBody>
      </p:sp>
      <p:sp>
        <p:nvSpPr>
          <p:cNvPr id="30" name="Text 28"/>
          <p:cNvSpPr/>
          <p:nvPr/>
        </p:nvSpPr>
        <p:spPr>
          <a:xfrm>
            <a:off x="856931" y="4859437"/>
            <a:ext cx="2942358"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Tulip</a:t>
            </a:r>
            <a:endParaRPr lang="en-US" sz="1450" dirty="0"/>
          </a:p>
        </p:txBody>
      </p:sp>
      <p:sp>
        <p:nvSpPr>
          <p:cNvPr id="31" name="Text 29"/>
          <p:cNvSpPr/>
          <p:nvPr/>
        </p:nvSpPr>
        <p:spPr>
          <a:xfrm>
            <a:off x="3574068" y="4859437"/>
            <a:ext cx="2939183"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0.88</a:t>
            </a:r>
            <a:endParaRPr lang="en-US" sz="1450" dirty="0"/>
          </a:p>
        </p:txBody>
      </p:sp>
      <p:sp>
        <p:nvSpPr>
          <p:cNvPr id="32" name="Text 30"/>
          <p:cNvSpPr/>
          <p:nvPr/>
        </p:nvSpPr>
        <p:spPr>
          <a:xfrm>
            <a:off x="6288029" y="4859437"/>
            <a:ext cx="2939183"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0.37</a:t>
            </a:r>
            <a:endParaRPr lang="en-US" sz="1450" dirty="0"/>
          </a:p>
        </p:txBody>
      </p:sp>
      <p:sp>
        <p:nvSpPr>
          <p:cNvPr id="33" name="Text 31"/>
          <p:cNvSpPr/>
          <p:nvPr/>
        </p:nvSpPr>
        <p:spPr>
          <a:xfrm>
            <a:off x="9001991" y="4859437"/>
            <a:ext cx="2942358"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0.52</a:t>
            </a:r>
            <a:endParaRPr lang="en-US" sz="1450" dirty="0"/>
          </a:p>
        </p:txBody>
      </p:sp>
      <p:sp>
        <p:nvSpPr>
          <p:cNvPr id="34" name="Text 32"/>
          <p:cNvSpPr/>
          <p:nvPr/>
        </p:nvSpPr>
        <p:spPr>
          <a:xfrm>
            <a:off x="661574" y="5500588"/>
            <a:ext cx="11478132"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Nota crítica: El Recall del Tulipán (0.37) indica que el modelo base no lograba identificar la clase correctamente.</a:t>
            </a:r>
            <a:endParaRPr lang="en-US" sz="1450" dirty="0"/>
          </a:p>
        </p:txBody>
      </p:sp>
      <p:pic>
        <p:nvPicPr>
          <p:cNvPr id="35" name="Imagen 34">
            <a:extLst>
              <a:ext uri="{FF2B5EF4-FFF2-40B4-BE49-F238E27FC236}">
                <a16:creationId xmlns:a16="http://schemas.microsoft.com/office/drawing/2014/main" id="{3F7FC5B1-B935-989E-18FD-0F61D614B7D0}"/>
              </a:ext>
            </a:extLst>
          </p:cNvPr>
          <p:cNvPicPr>
            <a:picLocks noChangeAspect="1"/>
          </p:cNvPicPr>
          <p:nvPr/>
        </p:nvPicPr>
        <p:blipFill>
          <a:blip r:embed="rId3"/>
          <a:stretch>
            <a:fillRect/>
          </a:stretch>
        </p:blipFill>
        <p:spPr>
          <a:xfrm>
            <a:off x="10233498" y="157738"/>
            <a:ext cx="1783404" cy="987242"/>
          </a:xfrm>
          <a:prstGeom prst="rect">
            <a:avLst/>
          </a:prstGeom>
        </p:spPr>
      </p:pic>
      <p:cxnSp>
        <p:nvCxnSpPr>
          <p:cNvPr id="36" name="Conector recto 35">
            <a:extLst>
              <a:ext uri="{FF2B5EF4-FFF2-40B4-BE49-F238E27FC236}">
                <a16:creationId xmlns:a16="http://schemas.microsoft.com/office/drawing/2014/main" id="{D195F9C2-F39C-A67E-A552-8A3D0C04A35C}"/>
              </a:ext>
            </a:extLst>
          </p:cNvPr>
          <p:cNvCxnSpPr>
            <a:cxnSpLocks/>
          </p:cNvCxnSpPr>
          <p:nvPr/>
        </p:nvCxnSpPr>
        <p:spPr>
          <a:xfrm>
            <a:off x="0" y="1144980"/>
            <a:ext cx="121920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86476" y="313564"/>
            <a:ext cx="8255389" cy="590649"/>
          </a:xfrm>
          <a:prstGeom prst="rect">
            <a:avLst/>
          </a:prstGeom>
          <a:noFill/>
          <a:ln/>
        </p:spPr>
        <p:txBody>
          <a:bodyPr wrap="none" lIns="0" tIns="0" rIns="0" bIns="0" rtlCol="0" anchor="t"/>
          <a:lstStyle/>
          <a:p>
            <a:pPr marL="0" indent="0" algn="l">
              <a:lnSpc>
                <a:spcPct val="104000"/>
              </a:lnSpc>
              <a:buNone/>
            </a:pPr>
            <a:r>
              <a:rPr lang="en-US" sz="3700" b="1" dirty="0">
                <a:solidFill>
                  <a:srgbClr val="000000"/>
                </a:solidFill>
                <a:latin typeface="Inter Bold" pitchFamily="34" charset="0"/>
                <a:ea typeface="Inter Bold" pitchFamily="34" charset="-122"/>
                <a:cs typeface="Inter Bold" pitchFamily="34" charset="-120"/>
              </a:rPr>
              <a:t>Impacto: Filtro de Mediana (76%)</a:t>
            </a:r>
            <a:endParaRPr lang="en-US" sz="3700" dirty="0"/>
          </a:p>
        </p:txBody>
      </p:sp>
      <p:sp>
        <p:nvSpPr>
          <p:cNvPr id="3" name="Shape 1"/>
          <p:cNvSpPr/>
          <p:nvPr/>
        </p:nvSpPr>
        <p:spPr>
          <a:xfrm>
            <a:off x="661574" y="2023666"/>
            <a:ext cx="10868547" cy="3264297"/>
          </a:xfrm>
          <a:prstGeom prst="roundRect">
            <a:avLst>
              <a:gd name="adj" fmla="val 2432"/>
            </a:avLst>
          </a:prstGeom>
          <a:noFill/>
          <a:ln w="6350">
            <a:solidFill>
              <a:srgbClr val="000000">
                <a:alpha val="8000"/>
              </a:srgbClr>
            </a:solidFill>
            <a:prstDash val="solid"/>
          </a:ln>
        </p:spPr>
        <p:txBody>
          <a:bodyPr/>
          <a:lstStyle/>
          <a:p>
            <a:endParaRPr lang="es-MX"/>
          </a:p>
        </p:txBody>
      </p:sp>
      <p:sp>
        <p:nvSpPr>
          <p:cNvPr id="4" name="Shape 2"/>
          <p:cNvSpPr/>
          <p:nvPr/>
        </p:nvSpPr>
        <p:spPr>
          <a:xfrm>
            <a:off x="667924" y="2030016"/>
            <a:ext cx="10855847" cy="541933"/>
          </a:xfrm>
          <a:prstGeom prst="rect">
            <a:avLst/>
          </a:prstGeom>
          <a:solidFill>
            <a:srgbClr val="FFFFFF">
              <a:alpha val="4000"/>
            </a:srgbClr>
          </a:solidFill>
          <a:ln/>
        </p:spPr>
        <p:txBody>
          <a:bodyPr/>
          <a:lstStyle/>
          <a:p>
            <a:endParaRPr lang="es-MX"/>
          </a:p>
        </p:txBody>
      </p:sp>
      <p:sp>
        <p:nvSpPr>
          <p:cNvPr id="5" name="Text 3"/>
          <p:cNvSpPr/>
          <p:nvPr/>
        </p:nvSpPr>
        <p:spPr>
          <a:xfrm>
            <a:off x="856931" y="2149773"/>
            <a:ext cx="2942358"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CLASE</a:t>
            </a:r>
            <a:endParaRPr lang="en-US" sz="1450" dirty="0"/>
          </a:p>
        </p:txBody>
      </p:sp>
      <p:sp>
        <p:nvSpPr>
          <p:cNvPr id="6" name="Text 4"/>
          <p:cNvSpPr/>
          <p:nvPr/>
        </p:nvSpPr>
        <p:spPr>
          <a:xfrm>
            <a:off x="3574068" y="2149773"/>
            <a:ext cx="2939183"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PRECISION</a:t>
            </a:r>
            <a:endParaRPr lang="en-US" sz="1450" dirty="0"/>
          </a:p>
        </p:txBody>
      </p:sp>
      <p:sp>
        <p:nvSpPr>
          <p:cNvPr id="7" name="Text 5"/>
          <p:cNvSpPr/>
          <p:nvPr/>
        </p:nvSpPr>
        <p:spPr>
          <a:xfrm>
            <a:off x="6288029" y="2149773"/>
            <a:ext cx="2939183"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RECALL</a:t>
            </a:r>
            <a:endParaRPr lang="en-US" sz="1450" dirty="0"/>
          </a:p>
        </p:txBody>
      </p:sp>
      <p:sp>
        <p:nvSpPr>
          <p:cNvPr id="8" name="Text 6"/>
          <p:cNvSpPr/>
          <p:nvPr/>
        </p:nvSpPr>
        <p:spPr>
          <a:xfrm>
            <a:off x="9001991" y="2149773"/>
            <a:ext cx="2942358"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F1-SCORE</a:t>
            </a:r>
            <a:endParaRPr lang="en-US" sz="1450" dirty="0"/>
          </a:p>
        </p:txBody>
      </p:sp>
      <p:sp>
        <p:nvSpPr>
          <p:cNvPr id="9" name="Shape 7"/>
          <p:cNvSpPr/>
          <p:nvPr/>
        </p:nvSpPr>
        <p:spPr>
          <a:xfrm>
            <a:off x="667924" y="2571948"/>
            <a:ext cx="10855847" cy="541933"/>
          </a:xfrm>
          <a:prstGeom prst="rect">
            <a:avLst/>
          </a:prstGeom>
          <a:solidFill>
            <a:srgbClr val="000000">
              <a:alpha val="4000"/>
            </a:srgbClr>
          </a:solidFill>
          <a:ln/>
        </p:spPr>
        <p:txBody>
          <a:bodyPr/>
          <a:lstStyle/>
          <a:p>
            <a:endParaRPr lang="es-MX"/>
          </a:p>
        </p:txBody>
      </p:sp>
      <p:sp>
        <p:nvSpPr>
          <p:cNvPr id="10" name="Text 8"/>
          <p:cNvSpPr/>
          <p:nvPr/>
        </p:nvSpPr>
        <p:spPr>
          <a:xfrm>
            <a:off x="856931" y="2691705"/>
            <a:ext cx="2942358"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Daisy</a:t>
            </a:r>
            <a:endParaRPr lang="en-US" sz="1450" dirty="0"/>
          </a:p>
        </p:txBody>
      </p:sp>
      <p:sp>
        <p:nvSpPr>
          <p:cNvPr id="11" name="Text 9"/>
          <p:cNvSpPr/>
          <p:nvPr/>
        </p:nvSpPr>
        <p:spPr>
          <a:xfrm>
            <a:off x="3574068" y="2691705"/>
            <a:ext cx="2939183"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0.92</a:t>
            </a:r>
            <a:endParaRPr lang="en-US" sz="1450" dirty="0"/>
          </a:p>
        </p:txBody>
      </p:sp>
      <p:sp>
        <p:nvSpPr>
          <p:cNvPr id="12" name="Text 10"/>
          <p:cNvSpPr/>
          <p:nvPr/>
        </p:nvSpPr>
        <p:spPr>
          <a:xfrm>
            <a:off x="6288029" y="2691705"/>
            <a:ext cx="2939183"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0.73</a:t>
            </a:r>
            <a:endParaRPr lang="en-US" sz="1450" dirty="0"/>
          </a:p>
        </p:txBody>
      </p:sp>
      <p:sp>
        <p:nvSpPr>
          <p:cNvPr id="13" name="Text 11"/>
          <p:cNvSpPr/>
          <p:nvPr/>
        </p:nvSpPr>
        <p:spPr>
          <a:xfrm>
            <a:off x="9001991" y="2691705"/>
            <a:ext cx="2942358"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0.81</a:t>
            </a:r>
            <a:endParaRPr lang="en-US" sz="1450" dirty="0"/>
          </a:p>
        </p:txBody>
      </p:sp>
      <p:sp>
        <p:nvSpPr>
          <p:cNvPr id="14" name="Shape 12"/>
          <p:cNvSpPr/>
          <p:nvPr/>
        </p:nvSpPr>
        <p:spPr>
          <a:xfrm>
            <a:off x="667924" y="3113881"/>
            <a:ext cx="10855847" cy="541933"/>
          </a:xfrm>
          <a:prstGeom prst="rect">
            <a:avLst/>
          </a:prstGeom>
          <a:solidFill>
            <a:srgbClr val="FFFFFF">
              <a:alpha val="4000"/>
            </a:srgbClr>
          </a:solidFill>
          <a:ln/>
        </p:spPr>
        <p:txBody>
          <a:bodyPr/>
          <a:lstStyle/>
          <a:p>
            <a:endParaRPr lang="es-MX"/>
          </a:p>
        </p:txBody>
      </p:sp>
      <p:sp>
        <p:nvSpPr>
          <p:cNvPr id="15" name="Text 13"/>
          <p:cNvSpPr/>
          <p:nvPr/>
        </p:nvSpPr>
        <p:spPr>
          <a:xfrm>
            <a:off x="856931" y="3233638"/>
            <a:ext cx="2942358"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Dandelion</a:t>
            </a:r>
            <a:endParaRPr lang="en-US" sz="1450" dirty="0"/>
          </a:p>
        </p:txBody>
      </p:sp>
      <p:sp>
        <p:nvSpPr>
          <p:cNvPr id="16" name="Text 14"/>
          <p:cNvSpPr/>
          <p:nvPr/>
        </p:nvSpPr>
        <p:spPr>
          <a:xfrm>
            <a:off x="3574068" y="3233638"/>
            <a:ext cx="2939183"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0.76</a:t>
            </a:r>
            <a:endParaRPr lang="en-US" sz="1450" dirty="0"/>
          </a:p>
        </p:txBody>
      </p:sp>
      <p:sp>
        <p:nvSpPr>
          <p:cNvPr id="17" name="Text 15"/>
          <p:cNvSpPr/>
          <p:nvPr/>
        </p:nvSpPr>
        <p:spPr>
          <a:xfrm>
            <a:off x="6288029" y="3233638"/>
            <a:ext cx="2939183"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0.87</a:t>
            </a:r>
            <a:endParaRPr lang="en-US" sz="1450" dirty="0"/>
          </a:p>
        </p:txBody>
      </p:sp>
      <p:sp>
        <p:nvSpPr>
          <p:cNvPr id="18" name="Text 16"/>
          <p:cNvSpPr/>
          <p:nvPr/>
        </p:nvSpPr>
        <p:spPr>
          <a:xfrm>
            <a:off x="9001991" y="3233638"/>
            <a:ext cx="2942358"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0.81</a:t>
            </a:r>
            <a:endParaRPr lang="en-US" sz="1450" dirty="0"/>
          </a:p>
        </p:txBody>
      </p:sp>
      <p:sp>
        <p:nvSpPr>
          <p:cNvPr id="19" name="Shape 17"/>
          <p:cNvSpPr/>
          <p:nvPr/>
        </p:nvSpPr>
        <p:spPr>
          <a:xfrm>
            <a:off x="667924" y="3655814"/>
            <a:ext cx="10855847" cy="541933"/>
          </a:xfrm>
          <a:prstGeom prst="rect">
            <a:avLst/>
          </a:prstGeom>
          <a:solidFill>
            <a:srgbClr val="000000">
              <a:alpha val="4000"/>
            </a:srgbClr>
          </a:solidFill>
          <a:ln/>
        </p:spPr>
        <p:txBody>
          <a:bodyPr/>
          <a:lstStyle/>
          <a:p>
            <a:endParaRPr lang="es-MX"/>
          </a:p>
        </p:txBody>
      </p:sp>
      <p:sp>
        <p:nvSpPr>
          <p:cNvPr id="20" name="Text 18"/>
          <p:cNvSpPr/>
          <p:nvPr/>
        </p:nvSpPr>
        <p:spPr>
          <a:xfrm>
            <a:off x="856931" y="3775571"/>
            <a:ext cx="2942358"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Rose</a:t>
            </a:r>
            <a:endParaRPr lang="en-US" sz="1450" dirty="0"/>
          </a:p>
        </p:txBody>
      </p:sp>
      <p:sp>
        <p:nvSpPr>
          <p:cNvPr id="21" name="Text 19"/>
          <p:cNvSpPr/>
          <p:nvPr/>
        </p:nvSpPr>
        <p:spPr>
          <a:xfrm>
            <a:off x="3574068" y="3775571"/>
            <a:ext cx="2939183"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0.63</a:t>
            </a:r>
            <a:endParaRPr lang="en-US" sz="1450" dirty="0"/>
          </a:p>
        </p:txBody>
      </p:sp>
      <p:sp>
        <p:nvSpPr>
          <p:cNvPr id="22" name="Text 20"/>
          <p:cNvSpPr/>
          <p:nvPr/>
        </p:nvSpPr>
        <p:spPr>
          <a:xfrm>
            <a:off x="6288029" y="3775571"/>
            <a:ext cx="2939183"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0.62</a:t>
            </a:r>
            <a:endParaRPr lang="en-US" sz="1450" dirty="0"/>
          </a:p>
        </p:txBody>
      </p:sp>
      <p:sp>
        <p:nvSpPr>
          <p:cNvPr id="23" name="Text 21"/>
          <p:cNvSpPr/>
          <p:nvPr/>
        </p:nvSpPr>
        <p:spPr>
          <a:xfrm>
            <a:off x="9001991" y="3775571"/>
            <a:ext cx="2942358"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0.62</a:t>
            </a:r>
            <a:endParaRPr lang="en-US" sz="1450" dirty="0"/>
          </a:p>
        </p:txBody>
      </p:sp>
      <p:sp>
        <p:nvSpPr>
          <p:cNvPr id="24" name="Shape 22"/>
          <p:cNvSpPr/>
          <p:nvPr/>
        </p:nvSpPr>
        <p:spPr>
          <a:xfrm>
            <a:off x="667924" y="4197747"/>
            <a:ext cx="10855847" cy="541933"/>
          </a:xfrm>
          <a:prstGeom prst="rect">
            <a:avLst/>
          </a:prstGeom>
          <a:solidFill>
            <a:srgbClr val="FFFFFF">
              <a:alpha val="4000"/>
            </a:srgbClr>
          </a:solidFill>
          <a:ln/>
        </p:spPr>
        <p:txBody>
          <a:bodyPr/>
          <a:lstStyle/>
          <a:p>
            <a:endParaRPr lang="es-MX"/>
          </a:p>
        </p:txBody>
      </p:sp>
      <p:sp>
        <p:nvSpPr>
          <p:cNvPr id="25" name="Text 23"/>
          <p:cNvSpPr/>
          <p:nvPr/>
        </p:nvSpPr>
        <p:spPr>
          <a:xfrm>
            <a:off x="856931" y="4317504"/>
            <a:ext cx="2942358"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Sunflower</a:t>
            </a:r>
            <a:endParaRPr lang="en-US" sz="1450" dirty="0"/>
          </a:p>
        </p:txBody>
      </p:sp>
      <p:sp>
        <p:nvSpPr>
          <p:cNvPr id="26" name="Text 24"/>
          <p:cNvSpPr/>
          <p:nvPr/>
        </p:nvSpPr>
        <p:spPr>
          <a:xfrm>
            <a:off x="3574068" y="4317504"/>
            <a:ext cx="2939183"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0.80</a:t>
            </a:r>
            <a:endParaRPr lang="en-US" sz="1450" dirty="0"/>
          </a:p>
        </p:txBody>
      </p:sp>
      <p:sp>
        <p:nvSpPr>
          <p:cNvPr id="27" name="Text 25"/>
          <p:cNvSpPr/>
          <p:nvPr/>
        </p:nvSpPr>
        <p:spPr>
          <a:xfrm>
            <a:off x="6288029" y="4317504"/>
            <a:ext cx="2939183"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0.78</a:t>
            </a:r>
            <a:endParaRPr lang="en-US" sz="1450" dirty="0"/>
          </a:p>
        </p:txBody>
      </p:sp>
      <p:sp>
        <p:nvSpPr>
          <p:cNvPr id="28" name="Text 26"/>
          <p:cNvSpPr/>
          <p:nvPr/>
        </p:nvSpPr>
        <p:spPr>
          <a:xfrm>
            <a:off x="9001991" y="4317504"/>
            <a:ext cx="2942358"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0.79</a:t>
            </a:r>
            <a:endParaRPr lang="en-US" sz="1450" dirty="0"/>
          </a:p>
        </p:txBody>
      </p:sp>
      <p:sp>
        <p:nvSpPr>
          <p:cNvPr id="29" name="Shape 27"/>
          <p:cNvSpPr/>
          <p:nvPr/>
        </p:nvSpPr>
        <p:spPr>
          <a:xfrm>
            <a:off x="667924" y="4739680"/>
            <a:ext cx="10855847" cy="541933"/>
          </a:xfrm>
          <a:prstGeom prst="rect">
            <a:avLst/>
          </a:prstGeom>
          <a:solidFill>
            <a:srgbClr val="000000">
              <a:alpha val="4000"/>
            </a:srgbClr>
          </a:solidFill>
          <a:ln/>
        </p:spPr>
        <p:txBody>
          <a:bodyPr/>
          <a:lstStyle/>
          <a:p>
            <a:endParaRPr lang="es-MX"/>
          </a:p>
        </p:txBody>
      </p:sp>
      <p:sp>
        <p:nvSpPr>
          <p:cNvPr id="30" name="Text 28"/>
          <p:cNvSpPr/>
          <p:nvPr/>
        </p:nvSpPr>
        <p:spPr>
          <a:xfrm>
            <a:off x="856931" y="4859437"/>
            <a:ext cx="2942358"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Tulip</a:t>
            </a:r>
            <a:endParaRPr lang="en-US" sz="1450" dirty="0"/>
          </a:p>
        </p:txBody>
      </p:sp>
      <p:sp>
        <p:nvSpPr>
          <p:cNvPr id="31" name="Text 29"/>
          <p:cNvSpPr/>
          <p:nvPr/>
        </p:nvSpPr>
        <p:spPr>
          <a:xfrm>
            <a:off x="3574068" y="4859437"/>
            <a:ext cx="2939183"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0.72</a:t>
            </a:r>
            <a:endParaRPr lang="en-US" sz="1450" dirty="0"/>
          </a:p>
        </p:txBody>
      </p:sp>
      <p:sp>
        <p:nvSpPr>
          <p:cNvPr id="32" name="Text 30"/>
          <p:cNvSpPr/>
          <p:nvPr/>
        </p:nvSpPr>
        <p:spPr>
          <a:xfrm>
            <a:off x="6288029" y="4859437"/>
            <a:ext cx="2939183"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0.76</a:t>
            </a:r>
            <a:endParaRPr lang="en-US" sz="1450" dirty="0"/>
          </a:p>
        </p:txBody>
      </p:sp>
      <p:sp>
        <p:nvSpPr>
          <p:cNvPr id="33" name="Text 31"/>
          <p:cNvSpPr/>
          <p:nvPr/>
        </p:nvSpPr>
        <p:spPr>
          <a:xfrm>
            <a:off x="9001991" y="4859437"/>
            <a:ext cx="2942358"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0.74</a:t>
            </a:r>
            <a:endParaRPr lang="en-US" sz="1450" dirty="0"/>
          </a:p>
        </p:txBody>
      </p:sp>
      <p:sp>
        <p:nvSpPr>
          <p:cNvPr id="34" name="Text 32"/>
          <p:cNvSpPr/>
          <p:nvPr/>
        </p:nvSpPr>
        <p:spPr>
          <a:xfrm>
            <a:off x="661574" y="5500588"/>
            <a:ext cx="11478132"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El Accuracy de validación global incrementó un 5% absoluto.</a:t>
            </a:r>
            <a:endParaRPr lang="en-US" sz="1450" dirty="0"/>
          </a:p>
        </p:txBody>
      </p:sp>
      <p:pic>
        <p:nvPicPr>
          <p:cNvPr id="35" name="Imagen 34">
            <a:extLst>
              <a:ext uri="{FF2B5EF4-FFF2-40B4-BE49-F238E27FC236}">
                <a16:creationId xmlns:a16="http://schemas.microsoft.com/office/drawing/2014/main" id="{61AB656A-1C8B-CE45-03A3-E54F8676F653}"/>
              </a:ext>
            </a:extLst>
          </p:cNvPr>
          <p:cNvPicPr>
            <a:picLocks noChangeAspect="1"/>
          </p:cNvPicPr>
          <p:nvPr/>
        </p:nvPicPr>
        <p:blipFill>
          <a:blip r:embed="rId3"/>
          <a:stretch>
            <a:fillRect/>
          </a:stretch>
        </p:blipFill>
        <p:spPr>
          <a:xfrm>
            <a:off x="10233498" y="157738"/>
            <a:ext cx="1783404" cy="987242"/>
          </a:xfrm>
          <a:prstGeom prst="rect">
            <a:avLst/>
          </a:prstGeom>
        </p:spPr>
      </p:pic>
      <p:cxnSp>
        <p:nvCxnSpPr>
          <p:cNvPr id="36" name="Conector recto 35">
            <a:extLst>
              <a:ext uri="{FF2B5EF4-FFF2-40B4-BE49-F238E27FC236}">
                <a16:creationId xmlns:a16="http://schemas.microsoft.com/office/drawing/2014/main" id="{C55FFE27-93C3-E2A9-807B-190FD71F1394}"/>
              </a:ext>
            </a:extLst>
          </p:cNvPr>
          <p:cNvCxnSpPr>
            <a:cxnSpLocks/>
          </p:cNvCxnSpPr>
          <p:nvPr/>
        </p:nvCxnSpPr>
        <p:spPr>
          <a:xfrm>
            <a:off x="0" y="1144980"/>
            <a:ext cx="121920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337700" y="428225"/>
            <a:ext cx="9558098" cy="590649"/>
          </a:xfrm>
          <a:prstGeom prst="rect">
            <a:avLst/>
          </a:prstGeom>
          <a:noFill/>
          <a:ln/>
        </p:spPr>
        <p:txBody>
          <a:bodyPr wrap="none" lIns="0" tIns="0" rIns="0" bIns="0" rtlCol="0" anchor="t"/>
          <a:lstStyle/>
          <a:p>
            <a:pPr marL="0" indent="0" algn="l">
              <a:lnSpc>
                <a:spcPct val="104000"/>
              </a:lnSpc>
              <a:buNone/>
            </a:pPr>
            <a:r>
              <a:rPr lang="en-US" sz="3700" b="1" dirty="0">
                <a:solidFill>
                  <a:srgbClr val="000000"/>
                </a:solidFill>
                <a:latin typeface="Inter Bold" pitchFamily="34" charset="0"/>
                <a:ea typeface="Inter Bold" pitchFamily="34" charset="-122"/>
                <a:cs typeface="Inter Bold" pitchFamily="34" charset="-120"/>
              </a:rPr>
              <a:t>Comparativa de Accuracy y Promedios</a:t>
            </a:r>
            <a:endParaRPr lang="en-US" sz="3700" dirty="0"/>
          </a:p>
        </p:txBody>
      </p:sp>
      <p:pic>
        <p:nvPicPr>
          <p:cNvPr id="3" name="Image 0" descr="preencoded.png"/>
          <p:cNvPicPr>
            <a:picLocks noChangeAspect="1"/>
          </p:cNvPicPr>
          <p:nvPr/>
        </p:nvPicPr>
        <p:blipFill>
          <a:blip r:embed="rId3"/>
          <a:stretch>
            <a:fillRect/>
          </a:stretch>
        </p:blipFill>
        <p:spPr>
          <a:xfrm>
            <a:off x="661574" y="1804888"/>
            <a:ext cx="10868547" cy="2353072"/>
          </a:xfrm>
          <a:prstGeom prst="rect">
            <a:avLst/>
          </a:prstGeom>
        </p:spPr>
      </p:pic>
      <p:sp>
        <p:nvSpPr>
          <p:cNvPr id="4" name="Shape 1"/>
          <p:cNvSpPr/>
          <p:nvPr/>
        </p:nvSpPr>
        <p:spPr>
          <a:xfrm>
            <a:off x="661574" y="4370586"/>
            <a:ext cx="10868547" cy="1651198"/>
          </a:xfrm>
          <a:prstGeom prst="roundRect">
            <a:avLst>
              <a:gd name="adj" fmla="val 4808"/>
            </a:avLst>
          </a:prstGeom>
          <a:noFill/>
          <a:ln w="6350">
            <a:solidFill>
              <a:srgbClr val="000000">
                <a:alpha val="8000"/>
              </a:srgbClr>
            </a:solidFill>
            <a:prstDash val="solid"/>
          </a:ln>
        </p:spPr>
        <p:txBody>
          <a:bodyPr/>
          <a:lstStyle/>
          <a:p>
            <a:endParaRPr lang="es-MX"/>
          </a:p>
        </p:txBody>
      </p:sp>
      <p:sp>
        <p:nvSpPr>
          <p:cNvPr id="5" name="Text 2"/>
          <p:cNvSpPr/>
          <p:nvPr/>
        </p:nvSpPr>
        <p:spPr>
          <a:xfrm>
            <a:off x="857030" y="4496693"/>
            <a:ext cx="3813973"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Metric</a:t>
            </a:r>
            <a:endParaRPr lang="en-US" sz="1450" dirty="0"/>
          </a:p>
        </p:txBody>
      </p:sp>
      <p:sp>
        <p:nvSpPr>
          <p:cNvPr id="6" name="Text 3"/>
          <p:cNvSpPr/>
          <p:nvPr/>
        </p:nvSpPr>
        <p:spPr>
          <a:xfrm>
            <a:off x="4439432" y="4496693"/>
            <a:ext cx="3922515"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Original</a:t>
            </a:r>
            <a:endParaRPr lang="en-US" sz="1450" dirty="0"/>
          </a:p>
        </p:txBody>
      </p:sp>
      <p:sp>
        <p:nvSpPr>
          <p:cNvPr id="7" name="Text 4"/>
          <p:cNvSpPr/>
          <p:nvPr/>
        </p:nvSpPr>
        <p:spPr>
          <a:xfrm>
            <a:off x="8130376" y="4496693"/>
            <a:ext cx="3813973"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Mediana</a:t>
            </a:r>
            <a:endParaRPr lang="en-US" sz="1450" dirty="0"/>
          </a:p>
        </p:txBody>
      </p:sp>
      <p:sp>
        <p:nvSpPr>
          <p:cNvPr id="8" name="Text 5"/>
          <p:cNvSpPr/>
          <p:nvPr/>
        </p:nvSpPr>
        <p:spPr>
          <a:xfrm>
            <a:off x="857030" y="5044976"/>
            <a:ext cx="3813973"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Accuracy</a:t>
            </a:r>
            <a:endParaRPr lang="en-US" sz="1450" dirty="0"/>
          </a:p>
        </p:txBody>
      </p:sp>
      <p:sp>
        <p:nvSpPr>
          <p:cNvPr id="9" name="Text 6"/>
          <p:cNvSpPr/>
          <p:nvPr/>
        </p:nvSpPr>
        <p:spPr>
          <a:xfrm>
            <a:off x="4439432" y="5044976"/>
            <a:ext cx="3922515"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71%</a:t>
            </a:r>
            <a:endParaRPr lang="en-US" sz="1450" dirty="0"/>
          </a:p>
        </p:txBody>
      </p:sp>
      <p:sp>
        <p:nvSpPr>
          <p:cNvPr id="10" name="Text 7"/>
          <p:cNvSpPr/>
          <p:nvPr/>
        </p:nvSpPr>
        <p:spPr>
          <a:xfrm>
            <a:off x="8130376" y="5044976"/>
            <a:ext cx="3813973"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76%</a:t>
            </a:r>
            <a:endParaRPr lang="en-US" sz="1450" dirty="0"/>
          </a:p>
        </p:txBody>
      </p:sp>
      <p:sp>
        <p:nvSpPr>
          <p:cNvPr id="11" name="Text 8"/>
          <p:cNvSpPr/>
          <p:nvPr/>
        </p:nvSpPr>
        <p:spPr>
          <a:xfrm>
            <a:off x="857030" y="5593259"/>
            <a:ext cx="3813973"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F1 Macro</a:t>
            </a:r>
            <a:endParaRPr lang="en-US" sz="1450" dirty="0"/>
          </a:p>
        </p:txBody>
      </p:sp>
      <p:sp>
        <p:nvSpPr>
          <p:cNvPr id="12" name="Text 9"/>
          <p:cNvSpPr/>
          <p:nvPr/>
        </p:nvSpPr>
        <p:spPr>
          <a:xfrm>
            <a:off x="4439432" y="5593259"/>
            <a:ext cx="3922515"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0.71</a:t>
            </a:r>
            <a:endParaRPr lang="en-US" sz="1450" dirty="0"/>
          </a:p>
        </p:txBody>
      </p:sp>
      <p:sp>
        <p:nvSpPr>
          <p:cNvPr id="13" name="Text 10"/>
          <p:cNvSpPr/>
          <p:nvPr/>
        </p:nvSpPr>
        <p:spPr>
          <a:xfrm>
            <a:off x="8130376" y="5593259"/>
            <a:ext cx="3813973"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0.76</a:t>
            </a:r>
            <a:endParaRPr lang="en-US" sz="1450" dirty="0"/>
          </a:p>
        </p:txBody>
      </p:sp>
      <p:pic>
        <p:nvPicPr>
          <p:cNvPr id="14" name="Imagen 13">
            <a:extLst>
              <a:ext uri="{FF2B5EF4-FFF2-40B4-BE49-F238E27FC236}">
                <a16:creationId xmlns:a16="http://schemas.microsoft.com/office/drawing/2014/main" id="{1FD3222F-5076-1655-0A73-C0B4C1198E91}"/>
              </a:ext>
            </a:extLst>
          </p:cNvPr>
          <p:cNvPicPr>
            <a:picLocks noChangeAspect="1"/>
          </p:cNvPicPr>
          <p:nvPr/>
        </p:nvPicPr>
        <p:blipFill>
          <a:blip r:embed="rId4"/>
          <a:stretch>
            <a:fillRect/>
          </a:stretch>
        </p:blipFill>
        <p:spPr>
          <a:xfrm>
            <a:off x="10233498" y="157738"/>
            <a:ext cx="1783404" cy="987242"/>
          </a:xfrm>
          <a:prstGeom prst="rect">
            <a:avLst/>
          </a:prstGeom>
        </p:spPr>
      </p:pic>
      <p:cxnSp>
        <p:nvCxnSpPr>
          <p:cNvPr id="15" name="Conector recto 14">
            <a:extLst>
              <a:ext uri="{FF2B5EF4-FFF2-40B4-BE49-F238E27FC236}">
                <a16:creationId xmlns:a16="http://schemas.microsoft.com/office/drawing/2014/main" id="{3487628F-6711-2B84-5CAF-22609886FC02}"/>
              </a:ext>
            </a:extLst>
          </p:cNvPr>
          <p:cNvCxnSpPr>
            <a:cxnSpLocks/>
          </p:cNvCxnSpPr>
          <p:nvPr/>
        </p:nvCxnSpPr>
        <p:spPr>
          <a:xfrm>
            <a:off x="0" y="1144980"/>
            <a:ext cx="121920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369744" y="397824"/>
            <a:ext cx="8437153" cy="590649"/>
          </a:xfrm>
          <a:prstGeom prst="rect">
            <a:avLst/>
          </a:prstGeom>
          <a:noFill/>
          <a:ln/>
        </p:spPr>
        <p:txBody>
          <a:bodyPr wrap="none" lIns="0" tIns="0" rIns="0" bIns="0" rtlCol="0" anchor="t"/>
          <a:lstStyle/>
          <a:p>
            <a:pPr marL="0" indent="0" algn="l">
              <a:lnSpc>
                <a:spcPct val="104000"/>
              </a:lnSpc>
              <a:buNone/>
            </a:pPr>
            <a:r>
              <a:rPr lang="en-US" sz="3700" b="1" dirty="0">
                <a:solidFill>
                  <a:srgbClr val="000000"/>
                </a:solidFill>
                <a:latin typeface="Inter Bold" pitchFamily="34" charset="0"/>
                <a:ea typeface="Inter Bold" pitchFamily="34" charset="-122"/>
                <a:cs typeface="Inter Bold" pitchFamily="34" charset="-120"/>
              </a:rPr>
              <a:t>Análisis de la Matriz de Confusión</a:t>
            </a:r>
            <a:endParaRPr lang="en-US" sz="3700" dirty="0"/>
          </a:p>
        </p:txBody>
      </p:sp>
      <p:sp>
        <p:nvSpPr>
          <p:cNvPr id="3" name="Shape 1"/>
          <p:cNvSpPr/>
          <p:nvPr/>
        </p:nvSpPr>
        <p:spPr>
          <a:xfrm>
            <a:off x="355460" y="1403978"/>
            <a:ext cx="5203695" cy="2084685"/>
          </a:xfrm>
          <a:prstGeom prst="roundRect">
            <a:avLst>
              <a:gd name="adj" fmla="val 3808"/>
            </a:avLst>
          </a:prstGeom>
          <a:solidFill>
            <a:srgbClr val="DADBF1"/>
          </a:solidFill>
          <a:ln w="6350">
            <a:solidFill>
              <a:srgbClr val="C0C1D7"/>
            </a:solidFill>
            <a:prstDash val="solid"/>
          </a:ln>
        </p:spPr>
        <p:txBody>
          <a:bodyPr/>
          <a:lstStyle/>
          <a:p>
            <a:endParaRPr lang="es-MX"/>
          </a:p>
        </p:txBody>
      </p:sp>
      <p:sp>
        <p:nvSpPr>
          <p:cNvPr id="4" name="Text 2"/>
          <p:cNvSpPr/>
          <p:nvPr/>
        </p:nvSpPr>
        <p:spPr>
          <a:xfrm>
            <a:off x="550817" y="1599340"/>
            <a:ext cx="3050206" cy="295275"/>
          </a:xfrm>
          <a:prstGeom prst="rect">
            <a:avLst/>
          </a:prstGeom>
          <a:noFill/>
          <a:ln/>
        </p:spPr>
        <p:txBody>
          <a:bodyPr wrap="none" lIns="0" tIns="0" rIns="0" bIns="0" rtlCol="0" anchor="t"/>
          <a:lstStyle/>
          <a:p>
            <a:pPr marL="0" indent="0" algn="l">
              <a:lnSpc>
                <a:spcPct val="104000"/>
              </a:lnSpc>
              <a:buNone/>
            </a:pPr>
            <a:r>
              <a:rPr lang="en-US" sz="1850" b="1" dirty="0">
                <a:solidFill>
                  <a:srgbClr val="272525"/>
                </a:solidFill>
                <a:latin typeface="Inter Bold" pitchFamily="34" charset="0"/>
                <a:ea typeface="Inter Bold" pitchFamily="34" charset="-122"/>
                <a:cs typeface="Inter Bold" pitchFamily="34" charset="-120"/>
              </a:rPr>
              <a:t>Estado Base (Error Crítico)</a:t>
            </a:r>
            <a:endParaRPr lang="en-US" sz="1850" dirty="0"/>
          </a:p>
        </p:txBody>
      </p:sp>
      <p:sp>
        <p:nvSpPr>
          <p:cNvPr id="5" name="Text 3"/>
          <p:cNvSpPr/>
          <p:nvPr/>
        </p:nvSpPr>
        <p:spPr>
          <a:xfrm>
            <a:off x="550817" y="2083627"/>
            <a:ext cx="4812981"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El modelo base confundía 100 tulipanes clasificándolos como rosas. Esto generaba un sesgo masivo donde la red usaba la clase 'Rose' como comodín ante el ruido visual.</a:t>
            </a:r>
            <a:endParaRPr lang="en-US" sz="1450" dirty="0"/>
          </a:p>
        </p:txBody>
      </p:sp>
      <p:pic>
        <p:nvPicPr>
          <p:cNvPr id="10" name="Imagen 9">
            <a:extLst>
              <a:ext uri="{FF2B5EF4-FFF2-40B4-BE49-F238E27FC236}">
                <a16:creationId xmlns:a16="http://schemas.microsoft.com/office/drawing/2014/main" id="{F09D8F9A-65E3-1D1D-412B-D5A6E074572B}"/>
              </a:ext>
            </a:extLst>
          </p:cNvPr>
          <p:cNvPicPr>
            <a:picLocks noChangeAspect="1"/>
          </p:cNvPicPr>
          <p:nvPr/>
        </p:nvPicPr>
        <p:blipFill>
          <a:blip r:embed="rId3"/>
          <a:stretch>
            <a:fillRect/>
          </a:stretch>
        </p:blipFill>
        <p:spPr>
          <a:xfrm>
            <a:off x="6507805" y="1746977"/>
            <a:ext cx="4949186" cy="4171346"/>
          </a:xfrm>
          <a:prstGeom prst="rect">
            <a:avLst/>
          </a:prstGeom>
        </p:spPr>
      </p:pic>
      <p:pic>
        <p:nvPicPr>
          <p:cNvPr id="11" name="Imagen 10">
            <a:extLst>
              <a:ext uri="{FF2B5EF4-FFF2-40B4-BE49-F238E27FC236}">
                <a16:creationId xmlns:a16="http://schemas.microsoft.com/office/drawing/2014/main" id="{A6008820-21E6-E3E7-8383-4713D8648EF1}"/>
              </a:ext>
            </a:extLst>
          </p:cNvPr>
          <p:cNvPicPr>
            <a:picLocks noChangeAspect="1"/>
          </p:cNvPicPr>
          <p:nvPr/>
        </p:nvPicPr>
        <p:blipFill>
          <a:blip r:embed="rId4"/>
          <a:stretch>
            <a:fillRect/>
          </a:stretch>
        </p:blipFill>
        <p:spPr>
          <a:xfrm>
            <a:off x="10233498" y="157738"/>
            <a:ext cx="1783404" cy="987242"/>
          </a:xfrm>
          <a:prstGeom prst="rect">
            <a:avLst/>
          </a:prstGeom>
        </p:spPr>
      </p:pic>
      <p:cxnSp>
        <p:nvCxnSpPr>
          <p:cNvPr id="12" name="Conector recto 11">
            <a:extLst>
              <a:ext uri="{FF2B5EF4-FFF2-40B4-BE49-F238E27FC236}">
                <a16:creationId xmlns:a16="http://schemas.microsoft.com/office/drawing/2014/main" id="{4D083A6E-5543-91F0-BADD-0489402A44A6}"/>
              </a:ext>
            </a:extLst>
          </p:cNvPr>
          <p:cNvCxnSpPr>
            <a:cxnSpLocks/>
          </p:cNvCxnSpPr>
          <p:nvPr/>
        </p:nvCxnSpPr>
        <p:spPr>
          <a:xfrm>
            <a:off x="0" y="1144980"/>
            <a:ext cx="121920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71F4E-A868-F631-3472-2CD9D4E2B8C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EBA2917-D345-5F56-B6CD-B72B5D9A3B49}"/>
              </a:ext>
            </a:extLst>
          </p:cNvPr>
          <p:cNvSpPr/>
          <p:nvPr/>
        </p:nvSpPr>
        <p:spPr>
          <a:xfrm>
            <a:off x="175098" y="339920"/>
            <a:ext cx="8437153" cy="590649"/>
          </a:xfrm>
          <a:prstGeom prst="rect">
            <a:avLst/>
          </a:prstGeom>
          <a:noFill/>
          <a:ln/>
        </p:spPr>
        <p:txBody>
          <a:bodyPr wrap="none" lIns="0" tIns="0" rIns="0" bIns="0" rtlCol="0" anchor="t"/>
          <a:lstStyle/>
          <a:p>
            <a:pPr marL="0" indent="0" algn="l">
              <a:lnSpc>
                <a:spcPct val="104000"/>
              </a:lnSpc>
              <a:buNone/>
            </a:pPr>
            <a:r>
              <a:rPr lang="en-US" sz="3700" b="1" dirty="0">
                <a:solidFill>
                  <a:srgbClr val="000000"/>
                </a:solidFill>
                <a:latin typeface="Inter Bold" pitchFamily="34" charset="0"/>
                <a:ea typeface="Inter Bold" pitchFamily="34" charset="-122"/>
                <a:cs typeface="Inter Bold" pitchFamily="34" charset="-120"/>
              </a:rPr>
              <a:t>Análisis de la Matriz de Confusión</a:t>
            </a:r>
            <a:endParaRPr lang="en-US" sz="3700" dirty="0"/>
          </a:p>
        </p:txBody>
      </p:sp>
      <p:sp>
        <p:nvSpPr>
          <p:cNvPr id="6" name="Shape 4">
            <a:extLst>
              <a:ext uri="{FF2B5EF4-FFF2-40B4-BE49-F238E27FC236}">
                <a16:creationId xmlns:a16="http://schemas.microsoft.com/office/drawing/2014/main" id="{14F7747B-CA36-12FD-6B9F-EF3F77B33812}"/>
              </a:ext>
            </a:extLst>
          </p:cNvPr>
          <p:cNvSpPr/>
          <p:nvPr/>
        </p:nvSpPr>
        <p:spPr>
          <a:xfrm>
            <a:off x="6332776" y="2823666"/>
            <a:ext cx="5203695" cy="1820366"/>
          </a:xfrm>
          <a:prstGeom prst="roundRect">
            <a:avLst>
              <a:gd name="adj" fmla="val 4361"/>
            </a:avLst>
          </a:prstGeom>
          <a:solidFill>
            <a:srgbClr val="FFFFFF"/>
          </a:solidFill>
          <a:ln w="25399">
            <a:solidFill>
              <a:srgbClr val="C0C1D7"/>
            </a:solidFill>
            <a:prstDash val="solid"/>
          </a:ln>
        </p:spPr>
        <p:txBody>
          <a:bodyPr/>
          <a:lstStyle/>
          <a:p>
            <a:endParaRPr lang="es-MX"/>
          </a:p>
        </p:txBody>
      </p:sp>
      <p:sp>
        <p:nvSpPr>
          <p:cNvPr id="7" name="Text 5">
            <a:extLst>
              <a:ext uri="{FF2B5EF4-FFF2-40B4-BE49-F238E27FC236}">
                <a16:creationId xmlns:a16="http://schemas.microsoft.com/office/drawing/2014/main" id="{7D81DC82-D2DD-CC45-B30C-52952D6A967E}"/>
              </a:ext>
            </a:extLst>
          </p:cNvPr>
          <p:cNvSpPr/>
          <p:nvPr/>
        </p:nvSpPr>
        <p:spPr>
          <a:xfrm>
            <a:off x="6547182" y="3038078"/>
            <a:ext cx="3033240" cy="295275"/>
          </a:xfrm>
          <a:prstGeom prst="rect">
            <a:avLst/>
          </a:prstGeom>
          <a:noFill/>
          <a:ln/>
        </p:spPr>
        <p:txBody>
          <a:bodyPr wrap="none" lIns="0" tIns="0" rIns="0" bIns="0" rtlCol="0" anchor="t"/>
          <a:lstStyle/>
          <a:p>
            <a:pPr marL="0" indent="0" algn="l">
              <a:lnSpc>
                <a:spcPct val="104000"/>
              </a:lnSpc>
              <a:buNone/>
            </a:pPr>
            <a:r>
              <a:rPr lang="en-US" sz="1850" b="1" dirty="0">
                <a:solidFill>
                  <a:srgbClr val="272525"/>
                </a:solidFill>
                <a:latin typeface="Inter Bold" pitchFamily="34" charset="0"/>
                <a:ea typeface="Inter Bold" pitchFamily="34" charset="-122"/>
                <a:cs typeface="Inter Bold" pitchFamily="34" charset="-120"/>
              </a:rPr>
              <a:t>Con Mediana (Corrección)</a:t>
            </a:r>
            <a:endParaRPr lang="en-US" sz="1850" dirty="0"/>
          </a:p>
        </p:txBody>
      </p:sp>
      <p:sp>
        <p:nvSpPr>
          <p:cNvPr id="8" name="Text 6">
            <a:extLst>
              <a:ext uri="{FF2B5EF4-FFF2-40B4-BE49-F238E27FC236}">
                <a16:creationId xmlns:a16="http://schemas.microsoft.com/office/drawing/2014/main" id="{EECF69C9-6842-8B11-FA1F-489FE49ABAFB}"/>
              </a:ext>
            </a:extLst>
          </p:cNvPr>
          <p:cNvSpPr/>
          <p:nvPr/>
        </p:nvSpPr>
        <p:spPr>
          <a:xfrm>
            <a:off x="6547182" y="3522365"/>
            <a:ext cx="4774882"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72525"/>
                </a:solidFill>
                <a:latin typeface="Inter" pitchFamily="34" charset="0"/>
                <a:ea typeface="Inter" pitchFamily="34" charset="-122"/>
                <a:cs typeface="Inter" pitchFamily="34" charset="-120"/>
              </a:rPr>
              <a:t>Al suavizar las imágenes, la confusión Tulipán-Rosa bajó de 100 a solo 27 errores. Los aciertos reales en Tulipanes subieron de 72 a 149.</a:t>
            </a:r>
            <a:endParaRPr lang="en-US" sz="1450" dirty="0"/>
          </a:p>
        </p:txBody>
      </p:sp>
      <p:pic>
        <p:nvPicPr>
          <p:cNvPr id="10" name="Imagen 9">
            <a:extLst>
              <a:ext uri="{FF2B5EF4-FFF2-40B4-BE49-F238E27FC236}">
                <a16:creationId xmlns:a16="http://schemas.microsoft.com/office/drawing/2014/main" id="{129122B0-CBA4-AA17-21E6-6AEDD56383BD}"/>
              </a:ext>
            </a:extLst>
          </p:cNvPr>
          <p:cNvPicPr>
            <a:picLocks noChangeAspect="1"/>
          </p:cNvPicPr>
          <p:nvPr/>
        </p:nvPicPr>
        <p:blipFill>
          <a:blip r:embed="rId3"/>
          <a:stretch>
            <a:fillRect/>
          </a:stretch>
        </p:blipFill>
        <p:spPr>
          <a:xfrm>
            <a:off x="567279" y="1744542"/>
            <a:ext cx="4695552" cy="3978614"/>
          </a:xfrm>
          <a:prstGeom prst="rect">
            <a:avLst/>
          </a:prstGeom>
        </p:spPr>
      </p:pic>
      <p:pic>
        <p:nvPicPr>
          <p:cNvPr id="11" name="Imagen 10">
            <a:extLst>
              <a:ext uri="{FF2B5EF4-FFF2-40B4-BE49-F238E27FC236}">
                <a16:creationId xmlns:a16="http://schemas.microsoft.com/office/drawing/2014/main" id="{BC89C241-81D6-EA4E-E957-570C2DF78C0B}"/>
              </a:ext>
            </a:extLst>
          </p:cNvPr>
          <p:cNvPicPr>
            <a:picLocks noChangeAspect="1"/>
          </p:cNvPicPr>
          <p:nvPr/>
        </p:nvPicPr>
        <p:blipFill>
          <a:blip r:embed="rId4"/>
          <a:stretch>
            <a:fillRect/>
          </a:stretch>
        </p:blipFill>
        <p:spPr>
          <a:xfrm>
            <a:off x="10233498" y="157738"/>
            <a:ext cx="1783404" cy="987242"/>
          </a:xfrm>
          <a:prstGeom prst="rect">
            <a:avLst/>
          </a:prstGeom>
        </p:spPr>
      </p:pic>
      <p:cxnSp>
        <p:nvCxnSpPr>
          <p:cNvPr id="12" name="Conector recto 11">
            <a:extLst>
              <a:ext uri="{FF2B5EF4-FFF2-40B4-BE49-F238E27FC236}">
                <a16:creationId xmlns:a16="http://schemas.microsoft.com/office/drawing/2014/main" id="{59E91984-1306-5CF5-562C-70DF870E2140}"/>
              </a:ext>
            </a:extLst>
          </p:cNvPr>
          <p:cNvCxnSpPr>
            <a:cxnSpLocks/>
          </p:cNvCxnSpPr>
          <p:nvPr/>
        </p:nvCxnSpPr>
        <p:spPr>
          <a:xfrm>
            <a:off x="0" y="1144980"/>
            <a:ext cx="12192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43077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337235" y="24464"/>
            <a:ext cx="6358771" cy="1126133"/>
          </a:xfrm>
          <a:prstGeom prst="rect">
            <a:avLst/>
          </a:prstGeom>
          <a:noFill/>
          <a:ln/>
        </p:spPr>
        <p:txBody>
          <a:bodyPr wrap="square" lIns="0" tIns="0" rIns="0" bIns="0" rtlCol="0" anchor="t">
            <a:normAutofit/>
          </a:bodyPr>
          <a:lstStyle/>
          <a:p>
            <a:pPr marL="0" indent="0" algn="l">
              <a:lnSpc>
                <a:spcPct val="104000"/>
              </a:lnSpc>
              <a:buNone/>
            </a:pPr>
            <a:r>
              <a:rPr lang="en-US" sz="3500" b="1" dirty="0">
                <a:solidFill>
                  <a:srgbClr val="000000"/>
                </a:solidFill>
                <a:latin typeface="Inter Bold" pitchFamily="34" charset="0"/>
                <a:ea typeface="Inter Bold" pitchFamily="34" charset="-122"/>
                <a:cs typeface="Inter Bold" pitchFamily="34" charset="-120"/>
              </a:rPr>
              <a:t>Conclusiones: Evaluación de Impacto</a:t>
            </a:r>
            <a:endParaRPr lang="en-US" sz="3500" dirty="0"/>
          </a:p>
        </p:txBody>
      </p:sp>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8086" y="1939578"/>
            <a:ext cx="270166" cy="270173"/>
          </a:xfrm>
          <a:prstGeom prst="rect">
            <a:avLst/>
          </a:prstGeom>
        </p:spPr>
      </p:pic>
      <p:sp>
        <p:nvSpPr>
          <p:cNvPr id="5" name="Text 1"/>
          <p:cNvSpPr/>
          <p:nvPr/>
        </p:nvSpPr>
        <p:spPr>
          <a:xfrm>
            <a:off x="1215895" y="1934071"/>
            <a:ext cx="3347160" cy="281484"/>
          </a:xfrm>
          <a:prstGeom prst="rect">
            <a:avLst/>
          </a:prstGeom>
          <a:noFill/>
          <a:ln/>
        </p:spPr>
        <p:txBody>
          <a:bodyPr wrap="none" lIns="0" tIns="0" rIns="0" bIns="0" rtlCol="0" anchor="t"/>
          <a:lstStyle/>
          <a:p>
            <a:pPr marL="0" indent="0" algn="l">
              <a:lnSpc>
                <a:spcPct val="104000"/>
              </a:lnSpc>
              <a:buNone/>
            </a:pPr>
            <a:r>
              <a:rPr lang="en-US" sz="1750" b="1" dirty="0">
                <a:solidFill>
                  <a:srgbClr val="272525"/>
                </a:solidFill>
                <a:latin typeface="Inter Bold" pitchFamily="34" charset="0"/>
                <a:ea typeface="Inter Bold" pitchFamily="34" charset="-122"/>
                <a:cs typeface="Inter Bold" pitchFamily="34" charset="-120"/>
              </a:rPr>
              <a:t>¿Mejoró el desempeño global?</a:t>
            </a:r>
            <a:endParaRPr lang="en-US" sz="1750" dirty="0"/>
          </a:p>
        </p:txBody>
      </p:sp>
      <p:sp>
        <p:nvSpPr>
          <p:cNvPr id="6" name="Text 2"/>
          <p:cNvSpPr/>
          <p:nvPr/>
        </p:nvSpPr>
        <p:spPr>
          <a:xfrm>
            <a:off x="1215895" y="2318544"/>
            <a:ext cx="5773395" cy="562967"/>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272525"/>
                </a:solidFill>
                <a:latin typeface="Inter" pitchFamily="34" charset="0"/>
                <a:ea typeface="Inter" pitchFamily="34" charset="-122"/>
                <a:cs typeface="Inter" pitchFamily="34" charset="-120"/>
              </a:rPr>
              <a:t>Sí, mejoró sustancialmente. El Accuracy subió un 5% y el modelo se volvió más robusto ante clases similares.</a:t>
            </a:r>
            <a:endParaRPr lang="en-US" sz="1400" dirty="0"/>
          </a:p>
        </p:txBody>
      </p:sp>
      <p:pic>
        <p:nvPicPr>
          <p:cNvPr id="7"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8086" y="3230414"/>
            <a:ext cx="270166" cy="270173"/>
          </a:xfrm>
          <a:prstGeom prst="rect">
            <a:avLst/>
          </a:prstGeom>
        </p:spPr>
      </p:pic>
      <p:sp>
        <p:nvSpPr>
          <p:cNvPr id="8" name="Text 3"/>
          <p:cNvSpPr/>
          <p:nvPr/>
        </p:nvSpPr>
        <p:spPr>
          <a:xfrm>
            <a:off x="1215895" y="3224907"/>
            <a:ext cx="3829252" cy="281484"/>
          </a:xfrm>
          <a:prstGeom prst="rect">
            <a:avLst/>
          </a:prstGeom>
          <a:noFill/>
          <a:ln/>
        </p:spPr>
        <p:txBody>
          <a:bodyPr wrap="none" lIns="0" tIns="0" rIns="0" bIns="0" rtlCol="0" anchor="t"/>
          <a:lstStyle/>
          <a:p>
            <a:pPr marL="0" indent="0" algn="l">
              <a:lnSpc>
                <a:spcPct val="104000"/>
              </a:lnSpc>
              <a:buNone/>
            </a:pPr>
            <a:r>
              <a:rPr lang="en-US" sz="1750" b="1" dirty="0">
                <a:solidFill>
                  <a:srgbClr val="272525"/>
                </a:solidFill>
                <a:latin typeface="Inter Bold" pitchFamily="34" charset="0"/>
                <a:ea typeface="Inter Bold" pitchFamily="34" charset="-122"/>
                <a:cs typeface="Inter Bold" pitchFamily="34" charset="-120"/>
              </a:rPr>
              <a:t>¿Qué clases se confundieron más?</a:t>
            </a:r>
            <a:endParaRPr lang="en-US" sz="1750" dirty="0"/>
          </a:p>
        </p:txBody>
      </p:sp>
      <p:sp>
        <p:nvSpPr>
          <p:cNvPr id="9" name="Text 4"/>
          <p:cNvSpPr/>
          <p:nvPr/>
        </p:nvSpPr>
        <p:spPr>
          <a:xfrm>
            <a:off x="1215895" y="3609380"/>
            <a:ext cx="5773395" cy="1125934"/>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272525"/>
                </a:solidFill>
                <a:latin typeface="Inter" pitchFamily="34" charset="0"/>
                <a:ea typeface="Inter" pitchFamily="34" charset="-122"/>
                <a:cs typeface="Inter" pitchFamily="34" charset="-120"/>
              </a:rPr>
              <a:t>Inicialmente Tulipán con Rosa, por similitud cromática y ruido de fondo. Tras el preprocesamiento, apareció una confusión leve de Rosa hacia Tulipán (40 casos), indicando que el suavizado extremo puede borrar texturas finas de los pétalos de las rosas.</a:t>
            </a:r>
            <a:endParaRPr lang="en-US" sz="1400" dirty="0"/>
          </a:p>
        </p:txBody>
      </p:sp>
      <p:pic>
        <p:nvPicPr>
          <p:cNvPr id="10"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8086" y="5084217"/>
            <a:ext cx="270166" cy="270173"/>
          </a:xfrm>
          <a:prstGeom prst="rect">
            <a:avLst/>
          </a:prstGeom>
        </p:spPr>
      </p:pic>
      <p:sp>
        <p:nvSpPr>
          <p:cNvPr id="11" name="Text 5"/>
          <p:cNvSpPr/>
          <p:nvPr/>
        </p:nvSpPr>
        <p:spPr>
          <a:xfrm>
            <a:off x="1215895" y="5078710"/>
            <a:ext cx="4556309" cy="281484"/>
          </a:xfrm>
          <a:prstGeom prst="rect">
            <a:avLst/>
          </a:prstGeom>
          <a:noFill/>
          <a:ln/>
        </p:spPr>
        <p:txBody>
          <a:bodyPr wrap="none" lIns="0" tIns="0" rIns="0" bIns="0" rtlCol="0" anchor="t"/>
          <a:lstStyle/>
          <a:p>
            <a:pPr marL="0" indent="0" algn="l">
              <a:lnSpc>
                <a:spcPct val="104000"/>
              </a:lnSpc>
              <a:buNone/>
            </a:pPr>
            <a:r>
              <a:rPr lang="en-US" sz="1750" b="1" dirty="0">
                <a:solidFill>
                  <a:srgbClr val="272525"/>
                </a:solidFill>
                <a:latin typeface="Inter Bold" pitchFamily="34" charset="0"/>
                <a:ea typeface="Inter Bold" pitchFamily="34" charset="-122"/>
                <a:cs typeface="Inter Bold" pitchFamily="34" charset="-120"/>
              </a:rPr>
              <a:t>¿Recomendarías este preprocesamiento?</a:t>
            </a:r>
            <a:endParaRPr lang="en-US" sz="1750" dirty="0"/>
          </a:p>
        </p:txBody>
      </p:sp>
      <p:sp>
        <p:nvSpPr>
          <p:cNvPr id="12" name="Text 6"/>
          <p:cNvSpPr/>
          <p:nvPr/>
        </p:nvSpPr>
        <p:spPr>
          <a:xfrm>
            <a:off x="1215895" y="5463183"/>
            <a:ext cx="5773395" cy="844451"/>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272525"/>
                </a:solidFill>
                <a:latin typeface="Inter" pitchFamily="34" charset="0"/>
                <a:ea typeface="Inter" pitchFamily="34" charset="-122"/>
                <a:cs typeface="Inter" pitchFamily="34" charset="-120"/>
              </a:rPr>
              <a:t>Sí. Es altamente eficaz para limpiar fondos botánicos complejos y equilibrar el aprendizaje de la red sin sacrificar la silueta esencial de la flor.</a:t>
            </a:r>
            <a:endParaRPr lang="en-US" sz="1400" dirty="0"/>
          </a:p>
        </p:txBody>
      </p:sp>
      <p:pic>
        <p:nvPicPr>
          <p:cNvPr id="13" name="Imagen 12">
            <a:extLst>
              <a:ext uri="{FF2B5EF4-FFF2-40B4-BE49-F238E27FC236}">
                <a16:creationId xmlns:a16="http://schemas.microsoft.com/office/drawing/2014/main" id="{720E4E5F-E0E7-B00C-AA7F-25F8907EF707}"/>
              </a:ext>
            </a:extLst>
          </p:cNvPr>
          <p:cNvPicPr>
            <a:picLocks noChangeAspect="1"/>
          </p:cNvPicPr>
          <p:nvPr/>
        </p:nvPicPr>
        <p:blipFill>
          <a:blip r:embed="rId5"/>
          <a:stretch>
            <a:fillRect/>
          </a:stretch>
        </p:blipFill>
        <p:spPr>
          <a:xfrm>
            <a:off x="10700424" y="79916"/>
            <a:ext cx="1413753" cy="782614"/>
          </a:xfrm>
          <a:prstGeom prst="rect">
            <a:avLst/>
          </a:prstGeom>
        </p:spPr>
      </p:pic>
      <p:cxnSp>
        <p:nvCxnSpPr>
          <p:cNvPr id="14" name="Conector recto 13">
            <a:extLst>
              <a:ext uri="{FF2B5EF4-FFF2-40B4-BE49-F238E27FC236}">
                <a16:creationId xmlns:a16="http://schemas.microsoft.com/office/drawing/2014/main" id="{89BC7CE7-4F7F-9837-4B4B-FAEC268A7E31}"/>
              </a:ext>
            </a:extLst>
          </p:cNvPr>
          <p:cNvCxnSpPr>
            <a:cxnSpLocks/>
          </p:cNvCxnSpPr>
          <p:nvPr/>
        </p:nvCxnSpPr>
        <p:spPr>
          <a:xfrm>
            <a:off x="0" y="1144980"/>
            <a:ext cx="7619809"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3428319" y="2375297"/>
            <a:ext cx="5334958" cy="590649"/>
          </a:xfrm>
          <a:prstGeom prst="rect">
            <a:avLst/>
          </a:prstGeom>
          <a:noFill/>
          <a:ln/>
        </p:spPr>
        <p:txBody>
          <a:bodyPr wrap="none" lIns="0" tIns="0" rIns="0" bIns="0" rtlCol="0" anchor="t"/>
          <a:lstStyle/>
          <a:p>
            <a:pPr marL="0" indent="0" algn="ctr">
              <a:lnSpc>
                <a:spcPct val="104000"/>
              </a:lnSpc>
              <a:buNone/>
            </a:pPr>
            <a:r>
              <a:rPr lang="en-US" sz="3700" b="1" dirty="0">
                <a:solidFill>
                  <a:srgbClr val="000000"/>
                </a:solidFill>
                <a:latin typeface="Inter Bold" pitchFamily="34" charset="0"/>
                <a:ea typeface="Inter Bold" pitchFamily="34" charset="-122"/>
                <a:cs typeface="Inter Bold" pitchFamily="34" charset="-120"/>
              </a:rPr>
              <a:t>¿Preguntas?</a:t>
            </a:r>
            <a:endParaRPr lang="en-US" sz="3700" dirty="0"/>
          </a:p>
        </p:txBody>
      </p:sp>
      <p:sp>
        <p:nvSpPr>
          <p:cNvPr id="3" name="Shape 1"/>
          <p:cNvSpPr/>
          <p:nvPr/>
        </p:nvSpPr>
        <p:spPr>
          <a:xfrm>
            <a:off x="661574" y="3391198"/>
            <a:ext cx="10868547" cy="14089"/>
          </a:xfrm>
          <a:prstGeom prst="rect">
            <a:avLst/>
          </a:prstGeom>
          <a:solidFill>
            <a:srgbClr val="272525">
              <a:alpha val="50000"/>
            </a:srgbClr>
          </a:solidFill>
          <a:ln/>
        </p:spPr>
        <p:txBody>
          <a:bodyPr/>
          <a:lstStyle/>
          <a:p>
            <a:endParaRPr lang="es-MX"/>
          </a:p>
        </p:txBody>
      </p:sp>
      <p:sp>
        <p:nvSpPr>
          <p:cNvPr id="4" name="Text 2"/>
          <p:cNvSpPr/>
          <p:nvPr/>
        </p:nvSpPr>
        <p:spPr>
          <a:xfrm>
            <a:off x="661574" y="3665141"/>
            <a:ext cx="10868547" cy="817463"/>
          </a:xfrm>
          <a:prstGeom prst="rect">
            <a:avLst/>
          </a:prstGeom>
          <a:noFill/>
          <a:ln/>
        </p:spPr>
        <p:txBody>
          <a:bodyPr wrap="square" lIns="0" tIns="0" rIns="0" bIns="0" rtlCol="0" anchor="t"/>
          <a:lstStyle/>
          <a:p>
            <a:pPr marL="0" indent="0" algn="ctr">
              <a:lnSpc>
                <a:spcPct val="133000"/>
              </a:lnSpc>
              <a:spcAft>
                <a:spcPts val="1650"/>
              </a:spcAft>
              <a:buNone/>
            </a:pPr>
            <a:r>
              <a:rPr lang="en-US" sz="1450" dirty="0">
                <a:solidFill>
                  <a:srgbClr val="272525"/>
                </a:solidFill>
                <a:latin typeface="Inter" pitchFamily="34" charset="0"/>
                <a:ea typeface="Inter" pitchFamily="34" charset="-122"/>
                <a:cs typeface="Inter" pitchFamily="34" charset="-120"/>
              </a:rPr>
              <a:t>Diego Esparza | Proyecto Final CNN</a:t>
            </a:r>
            <a:endParaRPr lang="en-US" sz="1450" dirty="0"/>
          </a:p>
          <a:p>
            <a:pPr marL="0" indent="0" algn="ctr">
              <a:lnSpc>
                <a:spcPct val="133000"/>
              </a:lnSpc>
              <a:buNone/>
            </a:pPr>
            <a:r>
              <a:rPr lang="en-US" sz="1450" dirty="0">
                <a:solidFill>
                  <a:srgbClr val="272525"/>
                </a:solidFill>
                <a:latin typeface="Inter" pitchFamily="34" charset="0"/>
                <a:ea typeface="Inter" pitchFamily="34" charset="-122"/>
                <a:cs typeface="Inter" pitchFamily="34" charset="-120"/>
              </a:rPr>
              <a:t>13 de Junio de 2026</a:t>
            </a:r>
            <a:endParaRPr lang="en-US" sz="1450" dirty="0"/>
          </a:p>
        </p:txBody>
      </p:sp>
      <p:pic>
        <p:nvPicPr>
          <p:cNvPr id="5" name="Imagen 4">
            <a:extLst>
              <a:ext uri="{FF2B5EF4-FFF2-40B4-BE49-F238E27FC236}">
                <a16:creationId xmlns:a16="http://schemas.microsoft.com/office/drawing/2014/main" id="{13917D08-2742-3A2C-3E8B-399D6DE9F68E}"/>
              </a:ext>
            </a:extLst>
          </p:cNvPr>
          <p:cNvPicPr>
            <a:picLocks noChangeAspect="1"/>
          </p:cNvPicPr>
          <p:nvPr/>
        </p:nvPicPr>
        <p:blipFill>
          <a:blip r:embed="rId3"/>
          <a:stretch>
            <a:fillRect/>
          </a:stretch>
        </p:blipFill>
        <p:spPr>
          <a:xfrm>
            <a:off x="10233498" y="157738"/>
            <a:ext cx="1783404" cy="98724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Wisp</Template>
  <TotalTime>28</TotalTime>
  <Words>517</Words>
  <Application>Microsoft Office PowerPoint</Application>
  <PresentationFormat>Panorámica</PresentationFormat>
  <Paragraphs>102</Paragraphs>
  <Slides>10</Slides>
  <Notes>10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Inter Bold</vt:lpstr>
      <vt:lpstr>Arial</vt:lpstr>
      <vt:lpstr>Inter</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Addrin Esparza</dc:creator>
  <cp:lastModifiedBy>Addrin Esparza</cp:lastModifiedBy>
  <cp:revision>2</cp:revision>
  <dcterms:created xsi:type="dcterms:W3CDTF">2026-06-11T16:06:57Z</dcterms:created>
  <dcterms:modified xsi:type="dcterms:W3CDTF">2026-06-11T16:35:54Z</dcterms:modified>
</cp:coreProperties>
</file>